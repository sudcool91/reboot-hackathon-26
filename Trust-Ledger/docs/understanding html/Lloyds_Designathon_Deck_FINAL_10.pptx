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7" r:id="rId2"/>
    <p:sldId id="256" r:id="rId3"/>
    <p:sldId id="257" r:id="rId4"/>
    <p:sldId id="258" r:id="rId5"/>
    <p:sldId id="259" r:id="rId6"/>
    <p:sldId id="268" r:id="rId7"/>
    <p:sldId id="260" r:id="rId8"/>
    <p:sldId id="270" r:id="rId9"/>
    <p:sldId id="271" r:id="rId10"/>
    <p:sldId id="261" r:id="rId11"/>
    <p:sldId id="262" r:id="rId12"/>
    <p:sldId id="263" r:id="rId13"/>
    <p:sldId id="265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640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81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172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Lloyds Banking Group owns multiple brands (Lloyds, Halifax, Bank of Scotland, MBNA) — that's the real, immediate use case before any cross-industry ambition.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reframing — internal Group reuse first, cross-industry later — is the more credible, fundable pitch than jumping straight to 'every bank in the UK.'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'why not just put everything on chain' — this slide is the answer. Hash-only is the load-bearing design decision in the entire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point at each lane and name the real technology. If asked which is most novel, layer 2 (identity &amp; credential) is the differentiator — the chain itself (layer 4) is intentionally boring, proven technology.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exists specifically because the team asked for the HLD to be walked through with a concrete scenario, not just shown as an abstract diagram. Keep the example bank-centric and Group-specific — Lloyds to Halifax is more credible to this panel than a generic 'Bank A to Bank B'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small live visuals here: the hash literally resolving (bottom left) and 4 validators confirming in sequence (right). If asked about consensus by name, it's IBFT — Istanbul Byzantine Fault Tolerant — already used in enterprise Besu/Quorum deployments.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'designed to extend,' not 'promised to deliver' — it's a roadmap slide, and should read as one if asked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worth defending hardest if questions run long: (1) documents never touch the chain, only hashes; (2) a human still makes the final loan decision, the contract only informs it; (3) this is designed to extend beyond Lloyds into a shared industry network, not a closed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hld_diagram_v2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gif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xample.com/lloyds-prototype" TargetMode="Externa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40080" y="1500000"/>
            <a:ext cx="9144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DESIGNATHON 2026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980000"/>
            <a:ext cx="1090328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4FD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Team: </a:t>
            </a:r>
            <a:r>
              <a:rPr lang="en-US" sz="66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Trust </a:t>
            </a:r>
            <a:r>
              <a:rPr lang="en-US" sz="6600" b="1" dirty="0">
                <a:solidFill>
                  <a:srgbClr val="4FD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</a:t>
            </a:r>
            <a:endParaRPr lang="en-US" sz="6600" dirty="0"/>
          </a:p>
        </p:txBody>
      </p:sp>
      <p:sp>
        <p:nvSpPr>
          <p:cNvPr id="6" name="TeamSubtitle"/>
          <p:cNvSpPr/>
          <p:nvPr/>
        </p:nvSpPr>
        <p:spPr>
          <a:xfrm>
            <a:off x="594360" y="2920000"/>
            <a:ext cx="10515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KYC on DLT — Lloyds Technology Centre Designathon 2026</a:t>
            </a:r>
          </a:p>
        </p:txBody>
      </p:sp>
      <p:pic>
        <p:nvPicPr>
          <p:cNvPr id="210" name="TeamIntroGif" descr="/home/claude/ppt-assets/gifs/team_intr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160" y="3210000"/>
            <a:ext cx="4800000" cy="2100000"/>
          </a:xfrm>
          <a:prstGeom prst="rect">
            <a:avLst/>
          </a:prstGeom>
        </p:spPr>
      </p:pic>
      <p:sp>
        <p:nvSpPr>
          <p:cNvPr id="211" name="Footer"/>
          <p:cNvSpPr/>
          <p:nvPr/>
        </p:nvSpPr>
        <p:spPr>
          <a:xfrm>
            <a:off x="6755516" y="6415381"/>
            <a:ext cx="373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 Technology Centre · Designathon submission · 1 July 2026</a:t>
            </a:r>
            <a:endParaRPr lang="en-US" sz="1050" dirty="0"/>
          </a:p>
        </p:txBody>
      </p:sp>
      <p:sp>
        <p:nvSpPr>
          <p:cNvPr id="311" name="ParticipantsLabel"/>
          <p:cNvSpPr/>
          <p:nvPr/>
        </p:nvSpPr>
        <p:spPr>
          <a:xfrm>
            <a:off x="594360" y="54600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4FD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</a:p>
        </p:txBody>
      </p:sp>
      <p:sp>
        <p:nvSpPr>
          <p:cNvPr id="301" name="NamePill0"/>
          <p:cNvSpPr/>
          <p:nvPr/>
        </p:nvSpPr>
        <p:spPr>
          <a:xfrm>
            <a:off x="1382704" y="5871480"/>
            <a:ext cx="1700000" cy="411480"/>
          </a:xfrm>
          <a:prstGeom prst="roundRect">
            <a:avLst>
              <a:gd name="adj" fmla="val 125000"/>
            </a:avLst>
          </a:prstGeom>
          <a:solidFill>
            <a:srgbClr val="0B5C3F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02" name="NameText0"/>
          <p:cNvSpPr/>
          <p:nvPr/>
        </p:nvSpPr>
        <p:spPr>
          <a:xfrm>
            <a:off x="1382704" y="5871480"/>
            <a:ext cx="17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Saundarya Saurabh</a:t>
            </a:r>
            <a:endParaRPr lang="en-US" sz="1050" dirty="0"/>
          </a:p>
        </p:txBody>
      </p:sp>
      <p:sp>
        <p:nvSpPr>
          <p:cNvPr id="303" name="NamePill1"/>
          <p:cNvSpPr/>
          <p:nvPr/>
        </p:nvSpPr>
        <p:spPr>
          <a:xfrm>
            <a:off x="3192432" y="5871480"/>
            <a:ext cx="1700000" cy="411480"/>
          </a:xfrm>
          <a:prstGeom prst="roundRect">
            <a:avLst>
              <a:gd name="adj" fmla="val 125000"/>
            </a:avLst>
          </a:prstGeom>
          <a:solidFill>
            <a:srgbClr val="0B5C3F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04" name="NameText1"/>
          <p:cNvSpPr/>
          <p:nvPr/>
        </p:nvSpPr>
        <p:spPr>
          <a:xfrm>
            <a:off x="3192432" y="5871480"/>
            <a:ext cx="17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Lakshy Gupta</a:t>
            </a:r>
            <a:endParaRPr lang="en-US" sz="1050" dirty="0"/>
          </a:p>
        </p:txBody>
      </p:sp>
      <p:sp>
        <p:nvSpPr>
          <p:cNvPr id="305" name="NamePill2"/>
          <p:cNvSpPr/>
          <p:nvPr/>
        </p:nvSpPr>
        <p:spPr>
          <a:xfrm>
            <a:off x="5002160" y="5871480"/>
            <a:ext cx="1700000" cy="411480"/>
          </a:xfrm>
          <a:prstGeom prst="roundRect">
            <a:avLst>
              <a:gd name="adj" fmla="val 125000"/>
            </a:avLst>
          </a:prstGeom>
          <a:solidFill>
            <a:srgbClr val="0B5C3F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06" name="NameText2"/>
          <p:cNvSpPr/>
          <p:nvPr/>
        </p:nvSpPr>
        <p:spPr>
          <a:xfrm>
            <a:off x="5002160" y="5871480"/>
            <a:ext cx="17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Sunil Kumar Pandey</a:t>
            </a:r>
            <a:endParaRPr lang="en-US" sz="1050" dirty="0"/>
          </a:p>
        </p:txBody>
      </p:sp>
      <p:sp>
        <p:nvSpPr>
          <p:cNvPr id="307" name="NamePill3"/>
          <p:cNvSpPr/>
          <p:nvPr/>
        </p:nvSpPr>
        <p:spPr>
          <a:xfrm>
            <a:off x="6811888" y="5871480"/>
            <a:ext cx="1700000" cy="411480"/>
          </a:xfrm>
          <a:prstGeom prst="roundRect">
            <a:avLst>
              <a:gd name="adj" fmla="val 125000"/>
            </a:avLst>
          </a:prstGeom>
          <a:solidFill>
            <a:srgbClr val="0B5C3F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08" name="NameText3"/>
          <p:cNvSpPr/>
          <p:nvPr/>
        </p:nvSpPr>
        <p:spPr>
          <a:xfrm>
            <a:off x="6811888" y="5871480"/>
            <a:ext cx="17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Ankit Samadhiya</a:t>
            </a:r>
            <a:endParaRPr lang="en-US" sz="1050" dirty="0"/>
          </a:p>
        </p:txBody>
      </p:sp>
      <p:sp>
        <p:nvSpPr>
          <p:cNvPr id="309" name="NamePill4"/>
          <p:cNvSpPr/>
          <p:nvPr/>
        </p:nvSpPr>
        <p:spPr>
          <a:xfrm>
            <a:off x="8621616" y="5871480"/>
            <a:ext cx="1700000" cy="411480"/>
          </a:xfrm>
          <a:prstGeom prst="roundRect">
            <a:avLst>
              <a:gd name="adj" fmla="val 125000"/>
            </a:avLst>
          </a:prstGeom>
          <a:solidFill>
            <a:srgbClr val="0B5C3F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10" name="NameText4"/>
          <p:cNvSpPr/>
          <p:nvPr/>
        </p:nvSpPr>
        <p:spPr>
          <a:xfrm>
            <a:off x="8621616" y="5871480"/>
            <a:ext cx="17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Sunidhi Singh</a:t>
            </a:r>
            <a:endParaRPr lang="en-US" sz="10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F19E8F7-A20F-1D8A-DAC6-E102C65DA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44234"/>
            <a:ext cx="2381250" cy="885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49616" y="4754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12" b="1" kern="0" spc="200" dirty="0">
                <a:solidFill>
                  <a:srgbClr val="F2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</a:t>
            </a:r>
            <a:endParaRPr lang="en-US" sz="1512" dirty="0"/>
          </a:p>
        </p:txBody>
      </p:sp>
      <p:sp>
        <p:nvSpPr>
          <p:cNvPr id="4" name="Text 1"/>
          <p:cNvSpPr/>
          <p:nvPr/>
        </p:nvSpPr>
        <p:spPr>
          <a:xfrm>
            <a:off x="640080" y="2377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DESIGNATHON 2026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27432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once.</a:t>
            </a:r>
            <a:endParaRPr lang="en-US" sz="5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4FD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everywhere.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640080" y="441198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Identity Across Lloyds Banking Group — a verifiable credential a customer earns once, and every product and institution in the Group can trust.</a:t>
            </a:r>
          </a:p>
        </p:txBody>
      </p:sp>
      <p:sp>
        <p:nvSpPr>
          <p:cNvPr id="7" name="Text 4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 Technology Centre · Designathon submission · 1 July 2026</a:t>
            </a:r>
            <a:endParaRPr lang="en-US" sz="1050" dirty="0"/>
          </a:p>
        </p:txBody>
      </p:sp>
      <p:sp>
        <p:nvSpPr>
          <p:cNvPr id="301" name="TechPillBg"/>
          <p:cNvSpPr/>
          <p:nvPr/>
        </p:nvSpPr>
        <p:spPr>
          <a:xfrm>
            <a:off x="640080" y="5257800"/>
            <a:ext cx="1545336" cy="365760"/>
          </a:xfrm>
          <a:prstGeom prst="roundRect">
            <a:avLst>
              <a:gd name="adj" fmla="val 125000"/>
            </a:avLst>
          </a:prstGeom>
          <a:solidFill>
            <a:srgbClr val="0B5C3F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02" name="TechPillText"/>
          <p:cNvSpPr/>
          <p:nvPr/>
        </p:nvSpPr>
        <p:spPr>
          <a:xfrm>
            <a:off x="640080" y="525780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Hyperledger Fabric</a:t>
            </a:r>
            <a:endParaRPr lang="en-US" sz="1050" dirty="0"/>
          </a:p>
        </p:txBody>
      </p:sp>
      <p:sp>
        <p:nvSpPr>
          <p:cNvPr id="303" name="TechPillBg"/>
          <p:cNvSpPr/>
          <p:nvPr/>
        </p:nvSpPr>
        <p:spPr>
          <a:xfrm>
            <a:off x="2350008" y="5257800"/>
            <a:ext cx="457200" cy="365760"/>
          </a:xfrm>
          <a:prstGeom prst="roundRect">
            <a:avLst>
              <a:gd name="adj" fmla="val 125000"/>
            </a:avLst>
          </a:prstGeom>
          <a:solidFill>
            <a:srgbClr val="0B5C3F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04" name="TechPillText"/>
          <p:cNvSpPr/>
          <p:nvPr/>
        </p:nvSpPr>
        <p:spPr>
          <a:xfrm>
            <a:off x="2350008" y="5257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RAFT</a:t>
            </a:r>
            <a:endParaRPr lang="en-US" sz="1050" dirty="0"/>
          </a:p>
        </p:txBody>
      </p:sp>
      <p:sp>
        <p:nvSpPr>
          <p:cNvPr id="305" name="TechPillBg"/>
          <p:cNvSpPr/>
          <p:nvPr/>
        </p:nvSpPr>
        <p:spPr>
          <a:xfrm>
            <a:off x="2971800" y="5257800"/>
            <a:ext cx="612648" cy="365760"/>
          </a:xfrm>
          <a:prstGeom prst="roundRect">
            <a:avLst>
              <a:gd name="adj" fmla="val 125000"/>
            </a:avLst>
          </a:prstGeom>
          <a:solidFill>
            <a:srgbClr val="0B5C3F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06" name="TechPillText"/>
          <p:cNvSpPr/>
          <p:nvPr/>
        </p:nvSpPr>
        <p:spPr>
          <a:xfrm>
            <a:off x="2971800" y="5257800"/>
            <a:ext cx="612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Golang</a:t>
            </a:r>
            <a:endParaRPr lang="en-US" sz="1050" dirty="0"/>
          </a:p>
        </p:txBody>
      </p:sp>
      <p:sp>
        <p:nvSpPr>
          <p:cNvPr id="307" name="TechPillBg"/>
          <p:cNvSpPr/>
          <p:nvPr/>
        </p:nvSpPr>
        <p:spPr>
          <a:xfrm>
            <a:off x="3749040" y="5257800"/>
            <a:ext cx="1700784" cy="365760"/>
          </a:xfrm>
          <a:prstGeom prst="roundRect">
            <a:avLst>
              <a:gd name="adj" fmla="val 125000"/>
            </a:avLst>
          </a:prstGeom>
          <a:solidFill>
            <a:srgbClr val="0B5C3F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08" name="TechPillText"/>
          <p:cNvSpPr/>
          <p:nvPr/>
        </p:nvSpPr>
        <p:spPr>
          <a:xfrm>
            <a:off x="3749040" y="52578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 &amp; X.509 Cert</a:t>
            </a:r>
            <a:endParaRPr lang="en-US" sz="1050" dirty="0"/>
          </a:p>
        </p:txBody>
      </p:sp>
      <p:sp>
        <p:nvSpPr>
          <p:cNvPr id="309" name="TechPillBg"/>
          <p:cNvSpPr/>
          <p:nvPr/>
        </p:nvSpPr>
        <p:spPr>
          <a:xfrm>
            <a:off x="5614416" y="5257800"/>
            <a:ext cx="1856232" cy="365760"/>
          </a:xfrm>
          <a:prstGeom prst="roundRect">
            <a:avLst>
              <a:gd name="adj" fmla="val 125000"/>
            </a:avLst>
          </a:prstGeom>
          <a:solidFill>
            <a:srgbClr val="0B5C3F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10" name="TechPillText"/>
          <p:cNvSpPr/>
          <p:nvPr/>
        </p:nvSpPr>
        <p:spPr>
          <a:xfrm>
            <a:off x="5614416" y="525780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Verifiable Credentials</a:t>
            </a:r>
            <a:endParaRPr lang="en-US" sz="10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F19E8F7-A20F-1D8A-DAC6-E102C65DA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44234"/>
            <a:ext cx="2381250" cy="885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6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identity, reused across every Lloyds Banking Group brand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who verifies their identity once — at Lloyds, Halifax, Bank of Scotland, or MBNA — reuses that same verified identity across every other Group product and institution. The credential travels with the customer; the documents never do.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337560"/>
            <a:ext cx="548640" cy="548640"/>
          </a:xfrm>
          <a:prstGeom prst="ellipse">
            <a:avLst/>
          </a:prstGeom>
          <a:solidFill>
            <a:srgbClr val="E2EEE7"/>
          </a:solidFill>
          <a:ln/>
        </p:spPr>
      </p:sp>
      <p:pic>
        <p:nvPicPr>
          <p:cNvPr id="7" name="Image 0" descr="/home/claude/ppt-assets/icons/fingerprint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4747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023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once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44348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completes KYC the normal way, one time, with any Group brand.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30632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3337560"/>
            <a:ext cx="548640" cy="548640"/>
          </a:xfrm>
          <a:prstGeom prst="ellipse">
            <a:avLst/>
          </a:prstGeom>
          <a:solidFill>
            <a:srgbClr val="E2EEE7"/>
          </a:solidFill>
          <a:ln/>
        </p:spPr>
      </p:sp>
      <p:pic>
        <p:nvPicPr>
          <p:cNvPr id="12" name="Image 1" descr="/home/claude/ppt-assets/icons/hash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4747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4023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Seal the proof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17720" y="44348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tamper-proof fingerprint of that verification is committed to a shared consent ledger.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30632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3337560"/>
            <a:ext cx="548640" cy="548640"/>
          </a:xfrm>
          <a:prstGeom prst="ellipse">
            <a:avLst/>
          </a:prstGeom>
          <a:solidFill>
            <a:srgbClr val="E2EEE7"/>
          </a:solidFill>
          <a:ln/>
        </p:spPr>
      </p:sp>
      <p:pic>
        <p:nvPicPr>
          <p:cNvPr id="17" name="Image 2" descr="/home/claude/ppt-assets/icons/lin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34747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4023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everywhere in the Group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12480" y="44348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other Lloyds Banking Group product confirms it's genuine in seconds.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hours of re-verification, down to about 4 minutes — for every brand under the Lloyds Banking Group umbrella.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NEEDED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one Group, customers still start from zero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B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Lloyds current account holder who applies for a Halifax mortgage or an MBNA credit card still re-submits the same Aadhaar, PAN, and address proof — inside the very same banking group. The friction isn't cross-industry. It starts at home.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0B5C3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743200"/>
            <a:ext cx="530352" cy="530352"/>
          </a:xfrm>
          <a:prstGeom prst="ellipse">
            <a:avLst/>
          </a:prstGeom>
          <a:solidFill>
            <a:srgbClr val="FCEBEB"/>
          </a:solidFill>
          <a:ln/>
        </p:spPr>
      </p:sp>
      <p:pic>
        <p:nvPicPr>
          <p:cNvPr id="7" name="Image 0" descr="/home/claude/ppt-assets/icons/clock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889504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even internally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70" dirty="0">
                <a:solidFill>
                  <a:srgbClr val="D7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24–48 hours typical, even when the customer already passed KYC at a sister brand.</a:t>
            </a:r>
            <a:endParaRPr lang="en-US" sz="1070" dirty="0"/>
          </a:p>
        </p:txBody>
      </p:sp>
      <p:sp>
        <p:nvSpPr>
          <p:cNvPr id="10" name="Shape 7"/>
          <p:cNvSpPr/>
          <p:nvPr/>
        </p:nvSpPr>
        <p:spPr>
          <a:xfrm>
            <a:off x="4343400" y="24688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0B5C3F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743200"/>
            <a:ext cx="530352" cy="530352"/>
          </a:xfrm>
          <a:prstGeom prst="ellipse">
            <a:avLst/>
          </a:prstGeom>
          <a:solidFill>
            <a:srgbClr val="FCEBEB"/>
          </a:solidFill>
          <a:ln/>
        </p:spPr>
      </p:sp>
      <p:pic>
        <p:nvPicPr>
          <p:cNvPr id="12" name="Image 1" descr="/home/claude/ppt-assets/icons/warn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88950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Duplicated cost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17720" y="33832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70" dirty="0">
                <a:solidFill>
                  <a:srgbClr val="D7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brand pays for manual review and third-party checks on the same person.</a:t>
            </a:r>
            <a:endParaRPr lang="en-US" sz="1070" dirty="0"/>
          </a:p>
        </p:txBody>
      </p:sp>
      <p:sp>
        <p:nvSpPr>
          <p:cNvPr id="15" name="Shape 11"/>
          <p:cNvSpPr/>
          <p:nvPr/>
        </p:nvSpPr>
        <p:spPr>
          <a:xfrm>
            <a:off x="8138160" y="24688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0B5C3F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2743200"/>
            <a:ext cx="530352" cy="530352"/>
          </a:xfrm>
          <a:prstGeom prst="ellipse">
            <a:avLst/>
          </a:prstGeom>
          <a:solidFill>
            <a:srgbClr val="FCEBEB"/>
          </a:solidFill>
          <a:ln/>
        </p:spPr>
      </p:sp>
      <p:pic>
        <p:nvPicPr>
          <p:cNvPr id="17" name="Image 2" descr="/home/claude/ppt-assets/icons/x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2889504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9828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shared memory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412480" y="33832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70" dirty="0">
                <a:solidFill>
                  <a:srgbClr val="D7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Lloyds, Halifax, and Bank of Scotland each treat a known customer as new.</a:t>
            </a:r>
            <a:endParaRPr lang="en-US" sz="1070" dirty="0"/>
          </a:p>
        </p:txBody>
      </p:sp>
      <p:sp>
        <p:nvSpPr>
          <p:cNvPr id="20" name="Shape 15"/>
          <p:cNvSpPr/>
          <p:nvPr/>
        </p:nvSpPr>
        <p:spPr>
          <a:xfrm>
            <a:off x="548640" y="45720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021F15"/>
          </a:solidFill>
          <a:ln/>
        </p:spPr>
      </p:sp>
      <p:sp>
        <p:nvSpPr>
          <p:cNvPr id="21" name="Text 16"/>
          <p:cNvSpPr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inside the Group. Extend outward later.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22960" y="510235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reuse across Lloyds, Halifax, Bank of Scotland, and MBNA is the achievable, immediate win — and it's also the proof of concept for the larger cross-institution network described later in this deck.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OVERCOME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a fingerprint travels. The documents never do.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design decision is what makes the idea workable. The documents stay exactly where they are, encrypted, with the brand that collected them. Only a one-way cryptographic hash — a fingerprint, not a copy — is what moves between Lloyds, Halifax, Bank of Scotland, and MBNA.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417320" y="2423160"/>
            <a:ext cx="5852160" cy="2560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/home/claude/ppt-assets/gifs/privacy_spli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502" y="2560320"/>
            <a:ext cx="5225796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2459736"/>
            <a:ext cx="146304" cy="146304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2350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by construction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18120" y="264261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4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personally identifiable information is ever written to the chain — not a policy choice, an architectural one.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7543800" y="3328416"/>
            <a:ext cx="146304" cy="146304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1" name="Text 8"/>
          <p:cNvSpPr/>
          <p:nvPr/>
        </p:nvSpPr>
        <p:spPr>
          <a:xfrm>
            <a:off x="7818120" y="3218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Regulator-viable, not just demo-viable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818120" y="351129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4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ledger with PII on it would be a non-starter for compliance. Hash-only is what makes this realistic.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7543800" y="4197096"/>
            <a:ext cx="146304" cy="146304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4" name="Text 11"/>
          <p:cNvSpPr/>
          <p:nvPr/>
        </p:nvSpPr>
        <p:spPr>
          <a:xfrm>
            <a:off x="7818120" y="40873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One-way and unique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818120" y="437997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4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character in a document and the fingerprint changes completely — and it can never be reversed back into the original.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LD Diagram">
    <p:bg>
      <p:bgPr>
        <a:solidFill>
          <a:srgbClr val="02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89A"/>
                </a:solidFill>
                <a:latin typeface="Calibri" pitchFamily="34" charset="0"/>
              </a:rPr>
              <a:t>HIGH LEVEL DESIGN</a:t>
            </a:r>
          </a:p>
        </p:txBody>
      </p:sp>
      <p:sp>
        <p:nvSpPr>
          <p:cNvPr id="3" name="Title"/>
          <p:cNvSpPr/>
          <p:nvPr/>
        </p:nvSpPr>
        <p:spPr>
          <a:xfrm>
            <a:off x="548640" y="868680"/>
            <a:ext cx="1109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0E6"/>
                </a:solidFill>
                <a:latin typeface="Cambria" pitchFamily="34" charset="0"/>
              </a:rPr>
              <a:t>One request, five systems, zero documents in transit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" y="1493520"/>
            <a:ext cx="1109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8DF"/>
                </a:solidFill>
                <a:latin typeface="Calibri" pitchFamily="34" charset="0"/>
              </a:rPr>
              <a:t>How a single verifyKYC() call actually moves through the stack — request in, confirmation out.</a:t>
            </a:r>
          </a:p>
        </p:txBody>
      </p:sp>
      <p:pic>
        <p:nvPicPr>
          <p:cNvPr id="200" name="HLDDiagramImage" descr="High level design diagram: customer through API gateway, credential check, verifyKYC contract, and 4 of 4 validator consensus, with storage layer boundary showing documents stay off-cha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16" y="1957000"/>
            <a:ext cx="9944168" cy="4443800"/>
          </a:xfrm>
          <a:prstGeom prst="rect">
            <a:avLst/>
          </a:prstGeom>
        </p:spPr>
      </p:pic>
      <p:sp>
        <p:nvSpPr>
          <p:cNvPr id="120" name="FooterCaption"/>
          <p:cNvSpPr/>
          <p:nvPr/>
        </p:nvSpPr>
        <p:spPr>
          <a:xfrm>
            <a:off x="548640" y="6492240"/>
            <a:ext cx="105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FD89A"/>
                </a:solidFill>
                <a:latin typeface="Calibri" pitchFamily="34" charset="0"/>
              </a:rPr>
              <a:t>This is the same verifyKYC() call walked through narratively a few slides on, with Priya’s Halifax mortgage — here it’s the system diagram.</a:t>
            </a:r>
          </a:p>
        </p:txBody>
      </p:sp>
      <p:sp>
        <p:nvSpPr>
          <p:cNvPr id="121" name="PageNum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B7E"/>
                </a:solidFill>
                <a:latin typeface="Calibri" pitchFamily="34" charset="0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STRUCTURED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layers, each doing one job well</a:t>
            </a:r>
            <a:endParaRPr lang="en-US" sz="2700" dirty="0"/>
          </a:p>
        </p:txBody>
      </p:sp>
      <p:sp>
        <p:nvSpPr>
          <p:cNvPr id="101" name="LayerSpine"/>
          <p:cNvSpPr/>
          <p:nvPr/>
        </p:nvSpPr>
        <p:spPr>
          <a:xfrm>
            <a:off x="1005941" y="2011640"/>
            <a:ext cx="25400" cy="2800000"/>
          </a:xfrm>
          <a:prstGeom prst="rect">
            <a:avLst/>
          </a:prstGeom>
          <a:solidFill>
            <a:srgbClr val="4FD89A">
              <a:alpha val="70000"/>
            </a:srgbClr>
          </a:solidFill>
          <a:ln/>
        </p:spPr>
      </p:sp>
      <p:sp>
        <p:nvSpPr>
          <p:cNvPr id="102" name="LayerCard0"/>
          <p:cNvSpPr/>
          <p:nvPr/>
        </p:nvSpPr>
        <p:spPr>
          <a:xfrm>
            <a:off x="548640" y="1691640"/>
            <a:ext cx="6400800" cy="640000"/>
          </a:xfrm>
          <a:prstGeom prst="roundRect">
            <a:avLst>
              <a:gd name="adj" fmla="val 10000"/>
            </a:avLst>
          </a:prstGeom>
          <a:solidFill>
            <a:srgbClr val="0B5C3F"/>
          </a:solidFill>
          <a:ln/>
        </p:spPr>
      </p:sp>
      <p:sp>
        <p:nvSpPr>
          <p:cNvPr id="103" name="IconBadge0"/>
          <p:cNvSpPr/>
          <p:nvPr/>
        </p:nvSpPr>
        <p:spPr>
          <a:xfrm>
            <a:off x="777240" y="1770238"/>
            <a:ext cx="482803" cy="482803"/>
          </a:xfrm>
          <a:prstGeom prst="ellipse">
            <a:avLst/>
          </a:prstGeom>
          <a:solidFill>
            <a:srgbClr val="024731"/>
          </a:solidFill>
          <a:ln w="9525">
            <a:solidFill>
              <a:srgbClr val="4FD89A">
                <a:alpha val="45000"/>
              </a:srgbClr>
            </a:solidFill>
          </a:ln>
        </p:spPr>
      </p:sp>
      <p:sp>
        <p:nvSpPr>
          <p:cNvPr id="108" name="IconGlyph"/>
          <p:cNvSpPr/>
          <p:nvPr/>
        </p:nvSpPr>
        <p:spPr>
          <a:xfrm>
            <a:off x="923641" y="1928639"/>
            <a:ext cx="190000" cy="134000"/>
          </a:xfrm>
          <a:prstGeom prst="roundRect">
            <a:avLst>
              <a:gd name="adj" fmla="val 12000"/>
            </a:avLst>
          </a:prstGeom>
          <a:noFill/>
          <a:ln w="13970">
            <a:solidFill>
              <a:srgbClr val="F2F0E6"/>
            </a:solidFill>
          </a:ln>
        </p:spPr>
      </p:sp>
      <p:sp>
        <p:nvSpPr>
          <p:cNvPr id="109" name="IconGlyphBase"/>
          <p:cNvSpPr/>
          <p:nvPr/>
        </p:nvSpPr>
        <p:spPr>
          <a:xfrm>
            <a:off x="966641" y="2071639"/>
            <a:ext cx="104000" cy="16000"/>
          </a:xfrm>
          <a:prstGeom prst="rect">
            <a:avLst/>
          </a:prstGeom>
          <a:solidFill>
            <a:srgbClr val="F2F0E6"/>
          </a:solidFill>
          <a:ln/>
        </p:spPr>
      </p:sp>
      <p:sp>
        <p:nvSpPr>
          <p:cNvPr id="104" name="LayerNum0"/>
          <p:cNvSpPr/>
          <p:nvPr/>
        </p:nvSpPr>
        <p:spPr>
          <a:xfrm>
            <a:off x="6469440" y="1728216"/>
            <a:ext cx="400000" cy="320000"/>
          </a:xfrm>
          <a:prstGeom prst="rect">
            <a:avLst/>
          </a:prstGeom>
          <a:noFill/>
          <a:ln/>
        </p:spPr>
        <p:txBody>
          <a:bodyPr wrap="square" lIns="0" tIns="0" rIns="91440" bIns="0" rtlCol="0" anchor="t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FD89A">
                    <a:alpha val="28000"/>
                  </a:srgbClr>
                </a:solidFill>
                <a:latin typeface="Cambria" pitchFamily="34" charset="0"/>
              </a:rPr>
              <a:t>01</a:t>
            </a:r>
          </a:p>
        </p:txBody>
      </p:sp>
      <p:sp>
        <p:nvSpPr>
          <p:cNvPr id="105" name="LayerTitle0"/>
          <p:cNvSpPr/>
          <p:nvPr/>
        </p:nvSpPr>
        <p:spPr>
          <a:xfrm>
            <a:off x="1378915" y="1764792"/>
            <a:ext cx="26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06" name="LayerMono0"/>
          <p:cNvSpPr/>
          <p:nvPr/>
        </p:nvSpPr>
        <p:spPr>
          <a:xfrm>
            <a:off x="1378915" y="2034824"/>
            <a:ext cx="26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F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· NestJS API gateway</a:t>
            </a:r>
            <a:endParaRPr lang="en-US" sz="820" dirty="0"/>
          </a:p>
        </p:txBody>
      </p:sp>
      <p:sp>
        <p:nvSpPr>
          <p:cNvPr id="107" name="LayerDesc0"/>
          <p:cNvSpPr/>
          <p:nvPr/>
        </p:nvSpPr>
        <p:spPr>
          <a:xfrm>
            <a:off x="3246120" y="1751640"/>
            <a:ext cx="317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D7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applications, admin tools — what people touch.</a:t>
            </a:r>
            <a:endParaRPr lang="en-US" sz="950" dirty="0"/>
          </a:p>
        </p:txBody>
      </p:sp>
      <p:sp>
        <p:nvSpPr>
          <p:cNvPr id="110" name="LayerCard1"/>
          <p:cNvSpPr/>
          <p:nvPr/>
        </p:nvSpPr>
        <p:spPr>
          <a:xfrm>
            <a:off x="548640" y="2391640"/>
            <a:ext cx="6400800" cy="640000"/>
          </a:xfrm>
          <a:prstGeom prst="roundRect">
            <a:avLst>
              <a:gd name="adj" fmla="val 10000"/>
            </a:avLst>
          </a:prstGeom>
          <a:solidFill>
            <a:srgbClr val="0E6647"/>
          </a:solidFill>
          <a:ln/>
        </p:spPr>
      </p:sp>
      <p:sp>
        <p:nvSpPr>
          <p:cNvPr id="111" name="IconBadge1"/>
          <p:cNvSpPr/>
          <p:nvPr/>
        </p:nvSpPr>
        <p:spPr>
          <a:xfrm>
            <a:off x="777240" y="2470238"/>
            <a:ext cx="482803" cy="482803"/>
          </a:xfrm>
          <a:prstGeom prst="ellipse">
            <a:avLst/>
          </a:prstGeom>
          <a:solidFill>
            <a:srgbClr val="024731"/>
          </a:solidFill>
          <a:ln w="9525">
            <a:solidFill>
              <a:srgbClr val="4FD89A">
                <a:alpha val="45000"/>
              </a:srgbClr>
            </a:solidFill>
          </a:ln>
        </p:spPr>
      </p:sp>
      <p:sp>
        <p:nvSpPr>
          <p:cNvPr id="116" name="IconGlyph"/>
          <p:cNvSpPr/>
          <p:nvPr/>
        </p:nvSpPr>
        <p:spPr>
          <a:xfrm>
            <a:off x="919641" y="2639639"/>
            <a:ext cx="198000" cy="144000"/>
          </a:xfrm>
          <a:prstGeom prst="roundRect">
            <a:avLst>
              <a:gd name="adj" fmla="val 14000"/>
            </a:avLst>
          </a:prstGeom>
          <a:noFill/>
          <a:ln w="13970">
            <a:solidFill>
              <a:srgbClr val="F2F0E6"/>
            </a:solidFill>
          </a:ln>
        </p:spPr>
      </p:sp>
      <p:sp>
        <p:nvSpPr>
          <p:cNvPr id="117" name="IconGlyphPhoto"/>
          <p:cNvSpPr/>
          <p:nvPr/>
        </p:nvSpPr>
        <p:spPr>
          <a:xfrm>
            <a:off x="939641" y="2685639"/>
            <a:ext cx="52000" cy="52000"/>
          </a:xfrm>
          <a:prstGeom prst="ellipse">
            <a:avLst/>
          </a:prstGeom>
          <a:solidFill>
            <a:srgbClr val="F2F0E6"/>
          </a:solidFill>
          <a:ln/>
        </p:spPr>
      </p:sp>
      <p:sp>
        <p:nvSpPr>
          <p:cNvPr id="118" name="IconGlyphLine1"/>
          <p:cNvSpPr/>
          <p:nvPr/>
        </p:nvSpPr>
        <p:spPr>
          <a:xfrm>
            <a:off x="1005641" y="2692639"/>
            <a:ext cx="78000" cy="14000"/>
          </a:xfrm>
          <a:prstGeom prst="rect">
            <a:avLst/>
          </a:prstGeom>
          <a:solidFill>
            <a:srgbClr val="F2F0E6"/>
          </a:solidFill>
          <a:ln/>
        </p:spPr>
      </p:sp>
      <p:sp>
        <p:nvSpPr>
          <p:cNvPr id="119" name="IconGlyphLine2"/>
          <p:cNvSpPr/>
          <p:nvPr/>
        </p:nvSpPr>
        <p:spPr>
          <a:xfrm>
            <a:off x="1005641" y="2716639"/>
            <a:ext cx="56000" cy="14000"/>
          </a:xfrm>
          <a:prstGeom prst="rect">
            <a:avLst/>
          </a:prstGeom>
          <a:solidFill>
            <a:srgbClr val="F2F0E6"/>
          </a:solidFill>
          <a:ln/>
        </p:spPr>
      </p:sp>
      <p:sp>
        <p:nvSpPr>
          <p:cNvPr id="112" name="LayerNum1"/>
          <p:cNvSpPr/>
          <p:nvPr/>
        </p:nvSpPr>
        <p:spPr>
          <a:xfrm>
            <a:off x="6469440" y="2428216"/>
            <a:ext cx="400000" cy="320000"/>
          </a:xfrm>
          <a:prstGeom prst="rect">
            <a:avLst/>
          </a:prstGeom>
          <a:noFill/>
          <a:ln/>
        </p:spPr>
        <p:txBody>
          <a:bodyPr wrap="square" lIns="0" tIns="0" rIns="91440" bIns="0" rtlCol="0" anchor="t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FD89A">
                    <a:alpha val="28000"/>
                  </a:srgbClr>
                </a:solidFill>
                <a:latin typeface="Cambria" pitchFamily="34" charset="0"/>
              </a:rPr>
              <a:t>02</a:t>
            </a:r>
          </a:p>
        </p:txBody>
      </p:sp>
      <p:sp>
        <p:nvSpPr>
          <p:cNvPr id="113" name="LayerTitle1"/>
          <p:cNvSpPr/>
          <p:nvPr/>
        </p:nvSpPr>
        <p:spPr>
          <a:xfrm>
            <a:off x="1378915" y="2464792"/>
            <a:ext cx="26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credential</a:t>
            </a:r>
            <a:endParaRPr lang="en-US" sz="1200" dirty="0"/>
          </a:p>
        </p:txBody>
      </p:sp>
      <p:sp>
        <p:nvSpPr>
          <p:cNvPr id="114" name="LayerMono1"/>
          <p:cNvSpPr/>
          <p:nvPr/>
        </p:nvSpPr>
        <p:spPr>
          <a:xfrm>
            <a:off x="1378915" y="2734824"/>
            <a:ext cx="26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F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Verifiable Credentials · DID</a:t>
            </a:r>
            <a:endParaRPr lang="en-US" sz="820" dirty="0"/>
          </a:p>
        </p:txBody>
      </p:sp>
      <p:sp>
        <p:nvSpPr>
          <p:cNvPr id="115" name="LayerDesc1"/>
          <p:cNvSpPr/>
          <p:nvPr/>
        </p:nvSpPr>
        <p:spPr>
          <a:xfrm>
            <a:off x="3246120" y="2451640"/>
            <a:ext cx="317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D7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portable proof of who verified what.</a:t>
            </a:r>
            <a:endParaRPr lang="en-US" sz="950" dirty="0"/>
          </a:p>
        </p:txBody>
      </p:sp>
      <p:sp>
        <p:nvSpPr>
          <p:cNvPr id="120" name="LayerCard2"/>
          <p:cNvSpPr/>
          <p:nvPr/>
        </p:nvSpPr>
        <p:spPr>
          <a:xfrm>
            <a:off x="548640" y="3091640"/>
            <a:ext cx="6400800" cy="640000"/>
          </a:xfrm>
          <a:prstGeom prst="roundRect">
            <a:avLst>
              <a:gd name="adj" fmla="val 10000"/>
            </a:avLst>
          </a:prstGeom>
          <a:solidFill>
            <a:srgbClr val="10704F"/>
          </a:solidFill>
          <a:ln/>
        </p:spPr>
      </p:sp>
      <p:sp>
        <p:nvSpPr>
          <p:cNvPr id="121" name="IconBadge2"/>
          <p:cNvSpPr/>
          <p:nvPr/>
        </p:nvSpPr>
        <p:spPr>
          <a:xfrm>
            <a:off x="777240" y="3170238"/>
            <a:ext cx="482803" cy="482803"/>
          </a:xfrm>
          <a:prstGeom prst="ellipse">
            <a:avLst/>
          </a:prstGeom>
          <a:solidFill>
            <a:srgbClr val="024731"/>
          </a:solidFill>
          <a:ln w="9525">
            <a:solidFill>
              <a:srgbClr val="4FD89A">
                <a:alpha val="45000"/>
              </a:srgbClr>
            </a:solidFill>
          </a:ln>
        </p:spPr>
      </p:sp>
      <p:sp>
        <p:nvSpPr>
          <p:cNvPr id="126" name="IconGlyph"/>
          <p:cNvSpPr/>
          <p:nvPr/>
        </p:nvSpPr>
        <p:spPr>
          <a:xfrm>
            <a:off x="919641" y="3321639"/>
            <a:ext cx="146000" cy="180000"/>
          </a:xfrm>
          <a:prstGeom prst="round2SameRect">
            <a:avLst>
              <a:gd name="adj1" fmla="val 18000"/>
              <a:gd name="adj2" fmla="val 0"/>
            </a:avLst>
          </a:prstGeom>
          <a:noFill/>
          <a:ln w="13970">
            <a:solidFill>
              <a:srgbClr val="F2F0E6"/>
            </a:solidFill>
          </a:ln>
        </p:spPr>
      </p:sp>
      <p:sp>
        <p:nvSpPr>
          <p:cNvPr id="127" name="IconGlyphLine1"/>
          <p:cNvSpPr/>
          <p:nvPr/>
        </p:nvSpPr>
        <p:spPr>
          <a:xfrm>
            <a:off x="943641" y="3364639"/>
            <a:ext cx="98000" cy="11000"/>
          </a:xfrm>
          <a:prstGeom prst="rect">
            <a:avLst/>
          </a:prstGeom>
          <a:solidFill>
            <a:srgbClr val="F2F0E6"/>
          </a:solidFill>
          <a:ln/>
        </p:spPr>
      </p:sp>
      <p:sp>
        <p:nvSpPr>
          <p:cNvPr id="128" name="IconGlyphLine2"/>
          <p:cNvSpPr/>
          <p:nvPr/>
        </p:nvSpPr>
        <p:spPr>
          <a:xfrm>
            <a:off x="943641" y="3393639"/>
            <a:ext cx="78000" cy="11000"/>
          </a:xfrm>
          <a:prstGeom prst="rect">
            <a:avLst/>
          </a:prstGeom>
          <a:solidFill>
            <a:srgbClr val="F2F0E6"/>
          </a:solidFill>
          <a:ln/>
        </p:spPr>
      </p:sp>
      <p:sp>
        <p:nvSpPr>
          <p:cNvPr id="129" name="IconGlyphTooth0"/>
          <p:cNvSpPr/>
          <p:nvPr/>
        </p:nvSpPr>
        <p:spPr>
          <a:xfrm>
            <a:off x="1070641" y="3436639"/>
            <a:ext cx="22000" cy="22000"/>
          </a:xfrm>
          <a:prstGeom prst="round2SameRect">
            <a:avLst>
              <a:gd name="adj1" fmla="val 20000"/>
              <a:gd name="adj2" fmla="val 20000"/>
            </a:avLst>
          </a:prstGeom>
          <a:solidFill>
            <a:srgbClr val="4FD89A"/>
          </a:solidFill>
          <a:ln/>
        </p:spPr>
      </p:sp>
      <p:sp>
        <p:nvSpPr>
          <p:cNvPr id="130" name="IconGlyphTooth1"/>
          <p:cNvSpPr/>
          <p:nvPr/>
        </p:nvSpPr>
        <p:spPr>
          <a:xfrm>
            <a:off x="1111641" y="3477639"/>
            <a:ext cx="22000" cy="22000"/>
          </a:xfrm>
          <a:prstGeom prst="round2SameRect">
            <a:avLst>
              <a:gd name="adj1" fmla="val 20000"/>
              <a:gd name="adj2" fmla="val 20000"/>
            </a:avLst>
          </a:prstGeom>
          <a:solidFill>
            <a:srgbClr val="4FD89A"/>
          </a:solidFill>
          <a:ln/>
        </p:spPr>
      </p:sp>
      <p:sp>
        <p:nvSpPr>
          <p:cNvPr id="131" name="IconGlyphTooth2"/>
          <p:cNvSpPr/>
          <p:nvPr/>
        </p:nvSpPr>
        <p:spPr>
          <a:xfrm>
            <a:off x="1070641" y="3518639"/>
            <a:ext cx="22000" cy="22000"/>
          </a:xfrm>
          <a:prstGeom prst="round2SameRect">
            <a:avLst>
              <a:gd name="adj1" fmla="val 20000"/>
              <a:gd name="adj2" fmla="val 20000"/>
            </a:avLst>
          </a:prstGeom>
          <a:solidFill>
            <a:srgbClr val="4FD89A"/>
          </a:solidFill>
          <a:ln/>
        </p:spPr>
      </p:sp>
      <p:sp>
        <p:nvSpPr>
          <p:cNvPr id="132" name="IconGlyphTooth3"/>
          <p:cNvSpPr/>
          <p:nvPr/>
        </p:nvSpPr>
        <p:spPr>
          <a:xfrm>
            <a:off x="1029641" y="3477639"/>
            <a:ext cx="22000" cy="22000"/>
          </a:xfrm>
          <a:prstGeom prst="round2SameRect">
            <a:avLst>
              <a:gd name="adj1" fmla="val 20000"/>
              <a:gd name="adj2" fmla="val 20000"/>
            </a:avLst>
          </a:prstGeom>
          <a:solidFill>
            <a:srgbClr val="4FD89A"/>
          </a:solidFill>
          <a:ln/>
        </p:spPr>
      </p:sp>
      <p:sp>
        <p:nvSpPr>
          <p:cNvPr id="133" name="IconGlyphGearCenter"/>
          <p:cNvSpPr/>
          <p:nvPr/>
        </p:nvSpPr>
        <p:spPr>
          <a:xfrm>
            <a:off x="1052941" y="3459939"/>
            <a:ext cx="57400" cy="57400"/>
          </a:xfrm>
          <a:prstGeom prst="ellipse">
            <a:avLst/>
          </a:prstGeom>
          <a:solidFill>
            <a:srgbClr val="4FD89A"/>
          </a:solidFill>
          <a:ln w="5715">
            <a:solidFill>
              <a:srgbClr val="024731"/>
            </a:solidFill>
          </a:ln>
        </p:spPr>
      </p:sp>
      <p:sp>
        <p:nvSpPr>
          <p:cNvPr id="122" name="LayerNum2"/>
          <p:cNvSpPr/>
          <p:nvPr/>
        </p:nvSpPr>
        <p:spPr>
          <a:xfrm>
            <a:off x="6469440" y="3128216"/>
            <a:ext cx="400000" cy="320000"/>
          </a:xfrm>
          <a:prstGeom prst="rect">
            <a:avLst/>
          </a:prstGeom>
          <a:noFill/>
          <a:ln/>
        </p:spPr>
        <p:txBody>
          <a:bodyPr wrap="square" lIns="0" tIns="0" rIns="91440" bIns="0" rtlCol="0" anchor="t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FD89A">
                    <a:alpha val="28000"/>
                  </a:srgbClr>
                </a:solidFill>
                <a:latin typeface="Cambria" pitchFamily="34" charset="0"/>
              </a:rPr>
              <a:t>03</a:t>
            </a:r>
          </a:p>
        </p:txBody>
      </p:sp>
      <p:sp>
        <p:nvSpPr>
          <p:cNvPr id="123" name="LayerTitle2"/>
          <p:cNvSpPr/>
          <p:nvPr/>
        </p:nvSpPr>
        <p:spPr>
          <a:xfrm>
            <a:off x="1378915" y="3164792"/>
            <a:ext cx="26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contracts</a:t>
            </a:r>
            <a:endParaRPr lang="en-US" sz="1200" dirty="0"/>
          </a:p>
        </p:txBody>
      </p:sp>
      <p:sp>
        <p:nvSpPr>
          <p:cNvPr id="124" name="LayerMono2"/>
          <p:cNvSpPr/>
          <p:nvPr/>
        </p:nvSpPr>
        <p:spPr>
          <a:xfrm>
            <a:off x="1378915" y="3434824"/>
            <a:ext cx="26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F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Golang</a:t>
            </a:r>
            <a:endParaRPr lang="en-US" sz="820" dirty="0"/>
          </a:p>
        </p:txBody>
      </p:sp>
      <p:sp>
        <p:nvSpPr>
          <p:cNvPr id="125" name="LayerDesc2"/>
          <p:cNvSpPr/>
          <p:nvPr/>
        </p:nvSpPr>
        <p:spPr>
          <a:xfrm>
            <a:off x="3246120" y="3151640"/>
            <a:ext cx="317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D7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issueKYC, verifyKYC, revokeKYC — trust enforced automatically.</a:t>
            </a:r>
            <a:endParaRPr lang="en-US" sz="950" dirty="0"/>
          </a:p>
        </p:txBody>
      </p:sp>
      <p:sp>
        <p:nvSpPr>
          <p:cNvPr id="134" name="LayerCard3"/>
          <p:cNvSpPr/>
          <p:nvPr/>
        </p:nvSpPr>
        <p:spPr>
          <a:xfrm>
            <a:off x="548640" y="3791640"/>
            <a:ext cx="6400800" cy="640000"/>
          </a:xfrm>
          <a:prstGeom prst="roundRect">
            <a:avLst>
              <a:gd name="adj" fmla="val 10000"/>
            </a:avLst>
          </a:prstGeom>
          <a:solidFill>
            <a:srgbClr val="0C6249"/>
          </a:solidFill>
          <a:ln/>
        </p:spPr>
      </p:sp>
      <p:sp>
        <p:nvSpPr>
          <p:cNvPr id="135" name="IconBadge3"/>
          <p:cNvSpPr/>
          <p:nvPr/>
        </p:nvSpPr>
        <p:spPr>
          <a:xfrm>
            <a:off x="777240" y="3870238"/>
            <a:ext cx="482803" cy="482803"/>
          </a:xfrm>
          <a:prstGeom prst="ellipse">
            <a:avLst/>
          </a:prstGeom>
          <a:solidFill>
            <a:srgbClr val="024731"/>
          </a:solidFill>
          <a:ln w="9525">
            <a:solidFill>
              <a:srgbClr val="4FD89A">
                <a:alpha val="45000"/>
              </a:srgbClr>
            </a:solidFill>
          </a:ln>
        </p:spPr>
      </p:sp>
      <p:sp>
        <p:nvSpPr>
          <p:cNvPr id="140" name="IconGlyphBlock0"/>
          <p:cNvSpPr/>
          <p:nvPr/>
        </p:nvSpPr>
        <p:spPr>
          <a:xfrm>
            <a:off x="890641" y="4079639"/>
            <a:ext cx="64000" cy="64000"/>
          </a:xfrm>
          <a:prstGeom prst="roundRect">
            <a:avLst>
              <a:gd name="adj" fmla="val 16000"/>
            </a:avLst>
          </a:prstGeom>
          <a:solidFill>
            <a:srgbClr val="F2F0E6"/>
          </a:solidFill>
          <a:ln/>
        </p:spPr>
      </p:sp>
      <p:sp>
        <p:nvSpPr>
          <p:cNvPr id="141" name="IconGlyphBlock1"/>
          <p:cNvSpPr/>
          <p:nvPr/>
        </p:nvSpPr>
        <p:spPr>
          <a:xfrm>
            <a:off x="986641" y="4079639"/>
            <a:ext cx="64000" cy="64000"/>
          </a:xfrm>
          <a:prstGeom prst="roundRect">
            <a:avLst>
              <a:gd name="adj" fmla="val 16000"/>
            </a:avLst>
          </a:prstGeom>
          <a:solidFill>
            <a:srgbClr val="F2F0E6"/>
          </a:solidFill>
          <a:ln/>
        </p:spPr>
      </p:sp>
      <p:sp>
        <p:nvSpPr>
          <p:cNvPr id="142" name="IconGlyphBlock2"/>
          <p:cNvSpPr/>
          <p:nvPr/>
        </p:nvSpPr>
        <p:spPr>
          <a:xfrm>
            <a:off x="1082641" y="4079639"/>
            <a:ext cx="64000" cy="64000"/>
          </a:xfrm>
          <a:prstGeom prst="roundRect">
            <a:avLst>
              <a:gd name="adj" fmla="val 16000"/>
            </a:avLst>
          </a:prstGeom>
          <a:solidFill>
            <a:srgbClr val="F2F0E6"/>
          </a:solidFill>
          <a:ln/>
        </p:spPr>
      </p:sp>
      <p:sp>
        <p:nvSpPr>
          <p:cNvPr id="143" name="IconGlyphLink0"/>
          <p:cNvSpPr/>
          <p:nvPr/>
        </p:nvSpPr>
        <p:spPr>
          <a:xfrm>
            <a:off x="954641" y="4105924"/>
            <a:ext cx="32000" cy="11430"/>
          </a:xfrm>
          <a:prstGeom prst="rect">
            <a:avLst/>
          </a:prstGeom>
          <a:solidFill>
            <a:srgbClr val="4FD89A"/>
          </a:solidFill>
          <a:ln/>
        </p:spPr>
      </p:sp>
      <p:sp>
        <p:nvSpPr>
          <p:cNvPr id="144" name="IconGlyphLink1"/>
          <p:cNvSpPr/>
          <p:nvPr/>
        </p:nvSpPr>
        <p:spPr>
          <a:xfrm>
            <a:off x="1050641" y="4105924"/>
            <a:ext cx="32000" cy="11430"/>
          </a:xfrm>
          <a:prstGeom prst="rect">
            <a:avLst/>
          </a:prstGeom>
          <a:solidFill>
            <a:srgbClr val="4FD89A"/>
          </a:solidFill>
          <a:ln/>
        </p:spPr>
      </p:sp>
      <p:sp>
        <p:nvSpPr>
          <p:cNvPr id="136" name="LayerNum3"/>
          <p:cNvSpPr/>
          <p:nvPr/>
        </p:nvSpPr>
        <p:spPr>
          <a:xfrm>
            <a:off x="6469440" y="3828216"/>
            <a:ext cx="400000" cy="320000"/>
          </a:xfrm>
          <a:prstGeom prst="rect">
            <a:avLst/>
          </a:prstGeom>
          <a:noFill/>
          <a:ln/>
        </p:spPr>
        <p:txBody>
          <a:bodyPr wrap="square" lIns="0" tIns="0" rIns="91440" bIns="0" rtlCol="0" anchor="t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FD89A">
                    <a:alpha val="28000"/>
                  </a:srgbClr>
                </a:solidFill>
                <a:latin typeface="Cambria" pitchFamily="34" charset="0"/>
              </a:rPr>
              <a:t>04</a:t>
            </a:r>
          </a:p>
        </p:txBody>
      </p:sp>
      <p:sp>
        <p:nvSpPr>
          <p:cNvPr id="137" name="LayerTitle3"/>
          <p:cNvSpPr/>
          <p:nvPr/>
        </p:nvSpPr>
        <p:spPr>
          <a:xfrm>
            <a:off x="1378915" y="3864792"/>
            <a:ext cx="26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/ DLT</a:t>
            </a:r>
            <a:endParaRPr lang="en-US" sz="1200" dirty="0"/>
          </a:p>
        </p:txBody>
      </p:sp>
      <p:sp>
        <p:nvSpPr>
          <p:cNvPr id="138" name="LayerMono3"/>
          <p:cNvSpPr/>
          <p:nvPr/>
        </p:nvSpPr>
        <p:spPr>
          <a:xfrm>
            <a:off x="1378915" y="4134824"/>
            <a:ext cx="26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F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Hyperledger Fabric · RAFT</a:t>
            </a:r>
            <a:endParaRPr lang="en-US" sz="820" dirty="0"/>
          </a:p>
        </p:txBody>
      </p:sp>
      <p:sp>
        <p:nvSpPr>
          <p:cNvPr id="139" name="LayerDesc3"/>
          <p:cNvSpPr/>
          <p:nvPr/>
        </p:nvSpPr>
        <p:spPr>
          <a:xfrm>
            <a:off x="3246120" y="3851640"/>
            <a:ext cx="317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D7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Permissioned network, multiple validators, no single point of failure.</a:t>
            </a:r>
            <a:endParaRPr lang="en-US" sz="950" dirty="0"/>
          </a:p>
        </p:txBody>
      </p:sp>
      <p:sp>
        <p:nvSpPr>
          <p:cNvPr id="145" name="LayerCard4"/>
          <p:cNvSpPr/>
          <p:nvPr/>
        </p:nvSpPr>
        <p:spPr>
          <a:xfrm>
            <a:off x="548640" y="4491640"/>
            <a:ext cx="6400800" cy="640000"/>
          </a:xfrm>
          <a:prstGeom prst="roundRect">
            <a:avLst>
              <a:gd name="adj" fmla="val 10000"/>
            </a:avLst>
          </a:prstGeom>
          <a:solidFill>
            <a:srgbClr val="0B5C3F"/>
          </a:solidFill>
          <a:ln/>
        </p:spPr>
      </p:sp>
      <p:sp>
        <p:nvSpPr>
          <p:cNvPr id="146" name="IconBadge4"/>
          <p:cNvSpPr/>
          <p:nvPr/>
        </p:nvSpPr>
        <p:spPr>
          <a:xfrm>
            <a:off x="777240" y="4570238"/>
            <a:ext cx="482803" cy="482803"/>
          </a:xfrm>
          <a:prstGeom prst="ellipse">
            <a:avLst/>
          </a:prstGeom>
          <a:solidFill>
            <a:srgbClr val="024731"/>
          </a:solidFill>
          <a:ln w="9525">
            <a:solidFill>
              <a:srgbClr val="4FD89A">
                <a:alpha val="45000"/>
              </a:srgbClr>
            </a:solidFill>
          </a:ln>
        </p:spPr>
      </p:sp>
      <p:sp>
        <p:nvSpPr>
          <p:cNvPr id="151" name="IconGlyphDisk0"/>
          <p:cNvSpPr/>
          <p:nvPr/>
        </p:nvSpPr>
        <p:spPr>
          <a:xfrm>
            <a:off x="943641" y="4736639"/>
            <a:ext cx="150000" cy="30000"/>
          </a:xfrm>
          <a:prstGeom prst="ellipse">
            <a:avLst/>
          </a:prstGeom>
          <a:noFill/>
          <a:ln w="11430">
            <a:solidFill>
              <a:srgbClr val="F2F0E6"/>
            </a:solidFill>
          </a:ln>
        </p:spPr>
      </p:sp>
      <p:sp>
        <p:nvSpPr>
          <p:cNvPr id="152" name="IconGlyphDisk1"/>
          <p:cNvSpPr/>
          <p:nvPr/>
        </p:nvSpPr>
        <p:spPr>
          <a:xfrm>
            <a:off x="943641" y="4776639"/>
            <a:ext cx="150000" cy="30000"/>
          </a:xfrm>
          <a:prstGeom prst="ellipse">
            <a:avLst/>
          </a:prstGeom>
          <a:noFill/>
          <a:ln w="11430">
            <a:solidFill>
              <a:srgbClr val="F2F0E6"/>
            </a:solidFill>
          </a:ln>
        </p:spPr>
      </p:sp>
      <p:sp>
        <p:nvSpPr>
          <p:cNvPr id="153" name="IconGlyphDisk2"/>
          <p:cNvSpPr/>
          <p:nvPr/>
        </p:nvSpPr>
        <p:spPr>
          <a:xfrm>
            <a:off x="943641" y="4816639"/>
            <a:ext cx="150000" cy="30000"/>
          </a:xfrm>
          <a:prstGeom prst="ellipse">
            <a:avLst/>
          </a:prstGeom>
          <a:noFill/>
          <a:ln w="11430">
            <a:solidFill>
              <a:srgbClr val="F2F0E6"/>
            </a:solidFill>
          </a:ln>
        </p:spPr>
      </p:sp>
      <p:sp>
        <p:nvSpPr>
          <p:cNvPr id="154" name="IconGlyphSideL"/>
          <p:cNvSpPr/>
          <p:nvPr/>
        </p:nvSpPr>
        <p:spPr>
          <a:xfrm>
            <a:off x="943641" y="4751639"/>
            <a:ext cx="9525" cy="80000"/>
          </a:xfrm>
          <a:prstGeom prst="rect">
            <a:avLst/>
          </a:prstGeom>
          <a:solidFill>
            <a:srgbClr val="F2F0E6"/>
          </a:solidFill>
          <a:ln/>
        </p:spPr>
      </p:sp>
      <p:sp>
        <p:nvSpPr>
          <p:cNvPr id="147" name="LayerNum4"/>
          <p:cNvSpPr/>
          <p:nvPr/>
        </p:nvSpPr>
        <p:spPr>
          <a:xfrm>
            <a:off x="6469440" y="4528216"/>
            <a:ext cx="400000" cy="320000"/>
          </a:xfrm>
          <a:prstGeom prst="rect">
            <a:avLst/>
          </a:prstGeom>
          <a:noFill/>
          <a:ln/>
        </p:spPr>
        <p:txBody>
          <a:bodyPr wrap="square" lIns="0" tIns="0" rIns="91440" bIns="0" rtlCol="0" anchor="t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FD89A">
                    <a:alpha val="28000"/>
                  </a:srgbClr>
                </a:solidFill>
                <a:latin typeface="Cambria" pitchFamily="34" charset="0"/>
              </a:rPr>
              <a:t>05</a:t>
            </a:r>
          </a:p>
        </p:txBody>
      </p:sp>
      <p:sp>
        <p:nvSpPr>
          <p:cNvPr id="148" name="LayerTitle4"/>
          <p:cNvSpPr/>
          <p:nvPr/>
        </p:nvSpPr>
        <p:spPr>
          <a:xfrm>
            <a:off x="1378915" y="4564792"/>
            <a:ext cx="26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200" dirty="0"/>
          </a:p>
        </p:txBody>
      </p:sp>
      <p:sp>
        <p:nvSpPr>
          <p:cNvPr id="149" name="LayerMono4"/>
          <p:cNvSpPr/>
          <p:nvPr/>
        </p:nvSpPr>
        <p:spPr>
          <a:xfrm>
            <a:off x="1378915" y="4834824"/>
            <a:ext cx="26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F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 / CouchDB</a:t>
            </a:r>
            <a:endParaRPr lang="en-US" sz="820" dirty="0"/>
          </a:p>
        </p:txBody>
      </p:sp>
      <p:sp>
        <p:nvSpPr>
          <p:cNvPr id="150" name="LayerDesc4"/>
          <p:cNvSpPr/>
          <p:nvPr/>
        </p:nvSpPr>
        <p:spPr>
          <a:xfrm>
            <a:off x="3246120" y="4551640"/>
            <a:ext cx="317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D7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fingerprints, off-chain encrypted records — split by design.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69480" y="1691640"/>
            <a:ext cx="4343400" cy="3429000"/>
          </a:xfrm>
          <a:prstGeom prst="roundRect">
            <a:avLst>
              <a:gd name="adj" fmla="val 1867"/>
            </a:avLst>
          </a:prstGeom>
          <a:solidFill>
            <a:srgbClr val="06140E"/>
          </a:solidFill>
          <a:ln/>
        </p:spPr>
      </p:sp>
      <p:pic>
        <p:nvPicPr>
          <p:cNvPr id="24" name="Image 0" descr="/home/claude/ppt-assets/gifs/credential_f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230785"/>
            <a:ext cx="4069080" cy="235071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48640" y="53492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4FD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and PII never appear in this diagram on purpose — only fingerprints move through layers 2 to 5.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lective Disclosure">
    <p:bg>
      <p:bgPr>
        <a:solidFill>
          <a:srgbClr val="F2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C3F"/>
                </a:solidFill>
                <a:latin typeface="Calibri" pitchFamily="34" charset="0"/>
              </a:rPr>
              <a:t>BEYOND HASH-ONLY</a:t>
            </a:r>
          </a:p>
        </p:txBody>
      </p:sp>
      <p:sp>
        <p:nvSpPr>
          <p:cNvPr id="3" name="Title"/>
          <p:cNvSpPr/>
          <p:nvPr/>
        </p:nvSpPr>
        <p:spPr>
          <a:xfrm>
            <a:off x="548640" y="868680"/>
            <a:ext cx="1109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160F"/>
                </a:solidFill>
                <a:latin typeface="Cambria" pitchFamily="34" charset="0"/>
              </a:rPr>
              <a:t>Halifax doesn’t need Priya’s whole credential — just one answer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" y="1493520"/>
            <a:ext cx="1109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0"/>
                </a:solidFill>
                <a:latin typeface="Calibri" pitchFamily="34" charset="0"/>
              </a:rPr>
              <a:t>verifyKYC() can return a single yes/no claim instead of the full credential — the same construction zero-knowledge proofs use, applied to the one question a lender actually has.</a:t>
            </a:r>
          </a:p>
        </p:txBody>
      </p:sp>
      <p:sp>
        <p:nvSpPr>
          <p:cNvPr id="10" name="TodayCard"/>
          <p:cNvSpPr/>
          <p:nvPr/>
        </p:nvSpPr>
        <p:spPr>
          <a:xfrm>
            <a:off x="548640" y="2377440"/>
            <a:ext cx="5304000" cy="3520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5C7"/>
            </a:solidFill>
          </a:ln>
        </p:spPr>
      </p:sp>
      <p:sp>
        <p:nvSpPr>
          <p:cNvPr id="11" name="TodayTag"/>
          <p:cNvSpPr/>
          <p:nvPr/>
        </p:nvSpPr>
        <p:spPr>
          <a:xfrm>
            <a:off x="822960" y="2560320"/>
            <a:ext cx="24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C8B7E"/>
                </a:solidFill>
                <a:latin typeface="Calibri" pitchFamily="34" charset="0"/>
              </a:rPr>
              <a:t>TODAY • verifyKYC()</a:t>
            </a:r>
          </a:p>
        </p:txBody>
      </p:sp>
      <p:sp>
        <p:nvSpPr>
          <p:cNvPr id="12" name="TodayBody"/>
          <p:cNvSpPr/>
          <p:nvPr/>
        </p:nvSpPr>
        <p:spPr>
          <a:xfrm>
            <a:off x="822960" y="2926080"/>
            <a:ext cx="4755360" cy="1280160"/>
          </a:xfrm>
          <a:prstGeom prst="roundRect">
            <a:avLst>
              <a:gd name="adj" fmla="val 6000"/>
            </a:avLst>
          </a:prstGeom>
          <a:solidFill>
            <a:srgbClr val="F2F0E6"/>
          </a:solidFill>
          <a:ln/>
        </p:spPr>
        <p:txBody>
          <a:bodyPr wrap="square" lIns="228600" tIns="182880" rIns="228600" bIns="18288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160F"/>
                </a:solidFill>
                <a:latin typeface="Cambria" pitchFamily="34" charset="0"/>
              </a:rPr>
              <a:t>Returns the whole picture</a:t>
            </a:r>
          </a:p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4A4A40"/>
                </a:solidFill>
                <a:latin typeface="Calibri" pitchFamily="34" charset="0"/>
              </a:rPr>
              <a:t>Issuer, issue date, expiry, status — all of it, every time, even when Halifax only needed to know one thing.</a:t>
            </a:r>
          </a:p>
        </p:txBody>
      </p:sp>
      <p:sp>
        <p:nvSpPr>
          <p:cNvPr id="13" name="TodayList"/>
          <p:cNvSpPr/>
          <p:nvPr/>
        </p:nvSpPr>
        <p:spPr>
          <a:xfrm>
            <a:off x="822960" y="4343400"/>
            <a:ext cx="4755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A4A40"/>
                </a:solidFill>
                <a:latin typeface="Calibri" pitchFamily="34" charset="0"/>
              </a:rPr>
              <a:t>issuer: Lloyds</a:t>
            </a:r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A4A40"/>
                </a:solidFill>
                <a:latin typeface="Calibri" pitchFamily="34" charset="0"/>
              </a:rPr>
              <a:t>verified: 12 Jun 2026</a:t>
            </a:r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A4A40"/>
                </a:solidFill>
                <a:latin typeface="Calibri" pitchFamily="34" charset="0"/>
              </a:rPr>
              <a:t>expiry: 12 Jun 2027</a:t>
            </a:r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A4A40"/>
                </a:solidFill>
                <a:latin typeface="Calibri" pitchFamily="34" charset="0"/>
              </a:rPr>
              <a:t>status: active, not revoked</a:t>
            </a:r>
          </a:p>
        </p:txBody>
      </p:sp>
      <p:sp>
        <p:nvSpPr>
          <p:cNvPr id="20" name="DividerArrow"/>
          <p:cNvSpPr/>
          <p:nvPr/>
        </p:nvSpPr>
        <p:spPr>
          <a:xfrm>
            <a:off x="5944680" y="3955847"/>
            <a:ext cx="411480" cy="411480"/>
          </a:xfrm>
          <a:prstGeom prst="ellipse">
            <a:avLst/>
          </a:prstGeom>
          <a:solidFill>
            <a:srgbClr val="0B5C3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0E6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30" name="SelectiveCard"/>
          <p:cNvSpPr/>
          <p:nvPr/>
        </p:nvSpPr>
        <p:spPr>
          <a:xfrm>
            <a:off x="6339080" y="2377440"/>
            <a:ext cx="5304000" cy="3520440"/>
          </a:xfrm>
          <a:prstGeom prst="roundRect">
            <a:avLst>
              <a:gd name="adj" fmla="val 2500"/>
            </a:avLst>
          </a:prstGeom>
          <a:solidFill>
            <a:srgbClr val="0B5C3F"/>
          </a:solidFill>
          <a:ln/>
        </p:spPr>
      </p:sp>
      <p:sp>
        <p:nvSpPr>
          <p:cNvPr id="31" name="SelectiveTag"/>
          <p:cNvSpPr/>
          <p:nvPr/>
        </p:nvSpPr>
        <p:spPr>
          <a:xfrm>
            <a:off x="6613400" y="2560320"/>
            <a:ext cx="30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FD89A"/>
                </a:solidFill>
                <a:latin typeface="Calibri" pitchFamily="34" charset="0"/>
              </a:rPr>
              <a:t>PROPOSED • verifyClaim()</a:t>
            </a:r>
          </a:p>
        </p:txBody>
      </p:sp>
      <p:sp>
        <p:nvSpPr>
          <p:cNvPr id="32" name="SelectiveBody"/>
          <p:cNvSpPr/>
          <p:nvPr/>
        </p:nvSpPr>
        <p:spPr>
          <a:xfrm>
            <a:off x="6613400" y="2926080"/>
            <a:ext cx="4755360" cy="1280160"/>
          </a:xfrm>
          <a:prstGeom prst="roundRect">
            <a:avLst>
              <a:gd name="adj" fmla="val 6000"/>
            </a:avLst>
          </a:prstGeom>
          <a:solidFill>
            <a:srgbClr val="06140E"/>
          </a:solidFill>
          <a:ln/>
        </p:spPr>
        <p:txBody>
          <a:bodyPr wrap="square" lIns="228600" tIns="182880" rIns="228600" bIns="18288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F0E6"/>
                </a:solidFill>
                <a:latin typeface="Cambria" pitchFamily="34" charset="0"/>
              </a:rPr>
              <a:t>Returns one proven claim</a:t>
            </a:r>
          </a:p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D7E8DF"/>
                </a:solidFill>
                <a:latin typeface="Calibri" pitchFamily="34" charset="0"/>
              </a:rPr>
              <a:t>Halifax asks one question; the contract proves it’s true without exposing anything else on the credential.</a:t>
            </a:r>
          </a:p>
        </p:txBody>
      </p:sp>
      <p:sp>
        <p:nvSpPr>
          <p:cNvPr id="33" name="SelectiveAnswer"/>
          <p:cNvSpPr/>
          <p:nvPr/>
        </p:nvSpPr>
        <p:spPr>
          <a:xfrm>
            <a:off x="6613400" y="4343400"/>
            <a:ext cx="475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D89A"/>
                </a:solidFill>
                <a:latin typeface="Courier New" pitchFamily="34" charset="0"/>
              </a:rPr>
              <a:t>request: verifyClaim(credentialId, "kyc_active")</a:t>
            </a:r>
          </a:p>
        </p:txBody>
      </p:sp>
      <p:sp>
        <p:nvSpPr>
          <p:cNvPr id="34" name="SelectiveAnswerProof"/>
          <p:cNvSpPr/>
          <p:nvPr/>
        </p:nvSpPr>
        <p:spPr>
          <a:xfrm>
            <a:off x="6613400" y="4562856"/>
            <a:ext cx="475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D89A"/>
                </a:solidFill>
                <a:latin typeface="Courier New" pitchFamily="34" charset="0"/>
              </a:rPr>
              <a:t>response: { claim: true, expiresIn: "118d" }</a:t>
            </a:r>
          </a:p>
        </p:txBody>
      </p:sp>
      <p:sp>
        <p:nvSpPr>
          <p:cNvPr id="35" name="SelectiveAnswerNote"/>
          <p:cNvSpPr/>
          <p:nvPr/>
        </p:nvSpPr>
        <p:spPr>
          <a:xfrm>
            <a:off x="6613400" y="4818000"/>
            <a:ext cx="475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D9BE"/>
                </a:solidFill>
                <a:latin typeface="Calibri" pitchFamily="34" charset="0"/>
              </a:rPr>
              <a:t>Issuer, exact dates, and document details stay sealed inside the credential.</a:t>
            </a:r>
          </a:p>
        </p:txBody>
      </p:sp>
      <p:cxnSp>
        <p:nvCxnSpPr>
          <p:cNvPr id="36" name="AnswerDivider"/>
          <p:cNvCxnSpPr/>
          <p:nvPr/>
        </p:nvCxnSpPr>
        <p:spPr>
          <a:xfrm>
            <a:off x="6613400" y="5101464"/>
            <a:ext cx="4755360" cy="0"/>
          </a:xfrm>
          <a:prstGeom prst="line">
            <a:avLst/>
          </a:prstGeom>
          <a:ln w="9525">
            <a:solidFill>
              <a:srgbClr val="4FD89A">
                <a:alpha val="30000"/>
              </a:srgbClr>
            </a:solidFill>
          </a:ln>
        </p:spPr>
      </p:cxnSp>
      <p:sp>
        <p:nvSpPr>
          <p:cNvPr id="37" name="ErrorLabel"/>
          <p:cNvSpPr/>
          <p:nvPr/>
        </p:nvSpPr>
        <p:spPr>
          <a:xfrm>
            <a:off x="6613400" y="5147736"/>
            <a:ext cx="475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D7E8DF"/>
                </a:solidFill>
                <a:latin typeface="Calibri" pitchFamily="34" charset="0"/>
              </a:rPr>
              <a:t>IF EXPIRED OR REVOKED</a:t>
            </a:r>
          </a:p>
        </p:txBody>
      </p:sp>
      <p:sp>
        <p:nvSpPr>
          <p:cNvPr id="38" name="ErrorResponse"/>
          <p:cNvSpPr/>
          <p:nvPr/>
        </p:nvSpPr>
        <p:spPr>
          <a:xfrm>
            <a:off x="6613400" y="5338320"/>
            <a:ext cx="475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A0A0"/>
                </a:solidFill>
                <a:latin typeface="Courier New" pitchFamily="34" charset="0"/>
              </a:rPr>
              <a:t>response: { claim: false, reason: "not_active" }</a:t>
            </a:r>
          </a:p>
        </p:txBody>
      </p:sp>
      <p:sp>
        <p:nvSpPr>
          <p:cNvPr id="39" name="ErrorNote"/>
          <p:cNvSpPr/>
          <p:nvPr/>
        </p:nvSpPr>
        <p:spPr>
          <a:xfrm>
            <a:off x="6613400" y="5566920"/>
            <a:ext cx="475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D9BE"/>
                </a:solidFill>
                <a:latin typeface="Calibri" pitchFamily="34" charset="0"/>
              </a:rPr>
              <a:t>No reason beyond pass/fail is ever returned — Halifax can’t infer why.</a:t>
            </a:r>
          </a:p>
        </p:txBody>
      </p:sp>
      <p:sp>
        <p:nvSpPr>
          <p:cNvPr id="40" name="FooterNote"/>
          <p:cNvSpPr/>
          <p:nvPr/>
        </p:nvSpPr>
        <p:spPr>
          <a:xfrm>
            <a:off x="548640" y="6149340"/>
            <a:ext cx="1109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C3F"/>
                </a:solidFill>
                <a:latin typeface="Calibri" pitchFamily="34" charset="0"/>
              </a:rPr>
              <a:t>Same ledger, same validators — the contract layer just answers a narrower question.</a:t>
            </a:r>
          </a:p>
        </p:txBody>
      </p:sp>
      <p:sp>
        <p:nvSpPr>
          <p:cNvPr id="41" name="PageNum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B7E"/>
                </a:solidFill>
                <a:latin typeface="Calibri" pitchFamily="34" charset="0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sent Screen">
    <p:bg>
      <p:bgPr>
        <a:solidFill>
          <a:srgbClr val="02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48640" y="548640"/>
            <a:ext cx="7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89A"/>
                </a:solidFill>
                <a:latin typeface="Calibri" pitchFamily="34" charset="0"/>
              </a:rPr>
              <a:t>THE CUSTOMER SIDE</a:t>
            </a:r>
          </a:p>
        </p:txBody>
      </p:sp>
      <p:sp>
        <p:nvSpPr>
          <p:cNvPr id="3" name="Title"/>
          <p:cNvSpPr/>
          <p:nvPr/>
        </p:nvSpPr>
        <p:spPr>
          <a:xfrm>
            <a:off x="548640" y="868680"/>
            <a:ext cx="1109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0E6"/>
                </a:solidFill>
                <a:latin typeface="Cambria" pitchFamily="34" charset="0"/>
              </a:rPr>
              <a:t>Priya sees the request and decides — every time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" y="1493520"/>
            <a:ext cx="64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8DF"/>
                </a:solidFill>
                <a:latin typeface="Calibri" pitchFamily="34" charset="0"/>
              </a:rPr>
              <a:t>Reuse is never silent. This is the actual screen on her phone.</a:t>
            </a:r>
          </a:p>
        </p:txBody>
      </p:sp>
      <p:sp>
        <p:nvSpPr>
          <p:cNvPr id="10" name="PhoneFrame"/>
          <p:cNvSpPr/>
          <p:nvPr/>
        </p:nvSpPr>
        <p:spPr>
          <a:xfrm>
            <a:off x="822960" y="2057400"/>
            <a:ext cx="3291840" cy="4480560"/>
          </a:xfrm>
          <a:prstGeom prst="roundRect">
            <a:avLst>
              <a:gd name="adj" fmla="val 6500"/>
            </a:avLst>
          </a:prstGeom>
          <a:solidFill>
            <a:srgbClr val="06140E"/>
          </a:solidFill>
          <a:ln/>
          <a:effectLst>
            <a:outerShdw blurRad="1524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PhoneScreen"/>
          <p:cNvSpPr/>
          <p:nvPr/>
        </p:nvSpPr>
        <p:spPr>
          <a:xfrm>
            <a:off x="960120" y="2194560"/>
            <a:ext cx="3017520" cy="4206240"/>
          </a:xfrm>
          <a:prstGeom prst="roundRect">
            <a:avLst>
              <a:gd name="adj" fmla="val 5000"/>
            </a:avLst>
          </a:prstGeom>
          <a:solidFill>
            <a:srgbClr val="F2F0E6"/>
          </a:solidFill>
          <a:ln/>
        </p:spPr>
      </p:sp>
      <p:sp>
        <p:nvSpPr>
          <p:cNvPr id="12" name="AppHeader"/>
          <p:cNvSpPr/>
          <p:nvPr/>
        </p:nvSpPr>
        <p:spPr>
          <a:xfrm>
            <a:off x="109728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C8B7E"/>
                </a:solidFill>
                <a:latin typeface="Calibri" pitchFamily="34" charset="0"/>
              </a:rPr>
              <a:t>HALIFAX • MORTGAGE APP</a:t>
            </a:r>
          </a:p>
        </p:txBody>
      </p:sp>
      <p:sp>
        <p:nvSpPr>
          <p:cNvPr id="13" name="RequestCard"/>
          <p:cNvSpPr/>
          <p:nvPr/>
        </p:nvSpPr>
        <p:spPr>
          <a:xfrm>
            <a:off x="1097280" y="2743200"/>
            <a:ext cx="2743200" cy="1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5C7"/>
            </a:solidFill>
          </a:ln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160F"/>
                </a:solidFill>
                <a:latin typeface="Cambria" pitchFamily="34" charset="0"/>
              </a:rPr>
              <a:t>Halifax wants to confirm: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4A4A40"/>
                </a:solidFill>
                <a:latin typeface="Calibri" pitchFamily="34" charset="0"/>
              </a:rPr>
              <a:t>"Your Lloyds KYC is verified and active."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C8B7E"/>
                </a:solidFill>
                <a:latin typeface="Calibri" pitchFamily="34" charset="0"/>
              </a:rPr>
              <a:t>No documents will be shared. Only this credential is checked.</a:t>
            </a:r>
          </a:p>
        </p:txBody>
      </p:sp>
      <p:sp>
        <p:nvSpPr>
          <p:cNvPr id="14" name="ApproveBtn"/>
          <p:cNvSpPr/>
          <p:nvPr/>
        </p:nvSpPr>
        <p:spPr>
          <a:xfrm>
            <a:off x="1097280" y="4525963"/>
            <a:ext cx="2743200" cy="411480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F0E6"/>
                </a:solidFill>
                <a:latin typeface="Calibri" pitchFamily="34" charset="0"/>
              </a:rPr>
              <a:t>Approve &amp; share claim</a:t>
            </a:r>
          </a:p>
        </p:txBody>
      </p:sp>
      <p:sp>
        <p:nvSpPr>
          <p:cNvPr id="15" name="DenyBtn"/>
          <p:cNvSpPr/>
          <p:nvPr/>
        </p:nvSpPr>
        <p:spPr>
          <a:xfrm>
            <a:off x="1097280" y="5006975"/>
            <a:ext cx="2743200" cy="36576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2BFA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0"/>
                </a:solidFill>
                <a:latin typeface="Calibri" pitchFamily="34" charset="0"/>
              </a:rPr>
              <a:t>Decline</a:t>
            </a:r>
          </a:p>
        </p:txBody>
      </p:sp>
      <p:sp>
        <p:nvSpPr>
          <p:cNvPr id="16" name="AuditNote"/>
          <p:cNvSpPr/>
          <p:nvPr/>
        </p:nvSpPr>
        <p:spPr>
          <a:xfrm>
            <a:off x="1097280" y="5532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C8B7E"/>
                </a:solidFill>
                <a:latin typeface="Calibri" pitchFamily="34" charset="0"/>
              </a:rPr>
              <a:t>Every approval joins her consent history, revocable any time.</a:t>
            </a:r>
          </a:p>
        </p:txBody>
      </p:sp>
      <p:sp>
        <p:nvSpPr>
          <p:cNvPr id="60" name="HistoryLabel"/>
          <p:cNvSpPr/>
          <p:nvPr/>
        </p:nvSpPr>
        <p:spPr>
          <a:xfrm>
            <a:off x="1097280" y="58795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8C8B7E"/>
                </a:solidFill>
                <a:latin typeface="Calibri" pitchFamily="34" charset="0"/>
              </a:rPr>
              <a:t>CONSENT HISTORY</a:t>
            </a:r>
          </a:p>
        </p:txBody>
      </p:sp>
      <p:sp>
        <p:nvSpPr>
          <p:cNvPr id="61" name="HistoryRow1Left"/>
          <p:cNvSpPr/>
          <p:nvPr/>
        </p:nvSpPr>
        <p:spPr>
          <a:xfrm>
            <a:off x="1097280" y="607618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160F"/>
                </a:solidFill>
                <a:latin typeface="Calibri" pitchFamily="34" charset="0"/>
              </a:rPr>
              <a:t>Halifax • Mortgage</a:t>
            </a:r>
          </a:p>
        </p:txBody>
      </p:sp>
      <p:sp>
        <p:nvSpPr>
          <p:cNvPr id="63" name="HistoryRow1Right"/>
          <p:cNvSpPr/>
          <p:nvPr/>
        </p:nvSpPr>
        <p:spPr>
          <a:xfrm>
            <a:off x="3017520" y="6076188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4A4A40"/>
                </a:solidFill>
                <a:latin typeface="Calibri" pitchFamily="34" charset="0"/>
              </a:rPr>
              <a:t>Active</a:t>
            </a:r>
          </a:p>
        </p:txBody>
      </p:sp>
      <p:sp>
        <p:nvSpPr>
          <p:cNvPr id="62" name="HistoryRow2Left"/>
          <p:cNvSpPr/>
          <p:nvPr/>
        </p:nvSpPr>
        <p:spPr>
          <a:xfrm>
            <a:off x="1097280" y="622249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160F"/>
                </a:solidFill>
                <a:latin typeface="Calibri" pitchFamily="34" charset="0"/>
              </a:rPr>
              <a:t>Bank of Scotland • Loan</a:t>
            </a:r>
          </a:p>
        </p:txBody>
      </p:sp>
      <p:sp>
        <p:nvSpPr>
          <p:cNvPr id="64" name="HistoryRow2Right"/>
          <p:cNvSpPr/>
          <p:nvPr/>
        </p:nvSpPr>
        <p:spPr>
          <a:xfrm>
            <a:off x="3017520" y="622249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B5C3F"/>
                </a:solidFill>
                <a:latin typeface="Calibri" pitchFamily="34" charset="0"/>
              </a:rPr>
              <a:t>Revoke</a:t>
            </a:r>
          </a:p>
        </p:txBody>
      </p:sp>
      <p:sp>
        <p:nvSpPr>
          <p:cNvPr id="20" name="RightPanel"/>
          <p:cNvSpPr/>
          <p:nvPr/>
        </p:nvSpPr>
        <p:spPr>
          <a:xfrm>
            <a:off x="4663440" y="2057400"/>
            <a:ext cx="6980280" cy="4480560"/>
          </a:xfrm>
          <a:prstGeom prst="roundRect">
            <a:avLst>
              <a:gd name="adj" fmla="val 1868"/>
            </a:avLst>
          </a:prstGeom>
          <a:solidFill>
            <a:srgbClr val="0B5C3F"/>
          </a:solidFill>
          <a:ln/>
        </p:spPr>
      </p:sp>
      <p:sp>
        <p:nvSpPr>
          <p:cNvPr id="21" name="PanelTitle"/>
          <p:cNvSpPr/>
          <p:nvPr/>
        </p:nvSpPr>
        <p:spPr>
          <a:xfrm>
            <a:off x="4937760" y="2286000"/>
            <a:ext cx="64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0E6"/>
                </a:solidFill>
                <a:latin typeface="Cambria" pitchFamily="34" charset="0"/>
              </a:rPr>
              <a:t>Why this matters for adoption</a:t>
            </a:r>
          </a:p>
        </p:txBody>
      </p:sp>
      <p:sp>
        <p:nvSpPr>
          <p:cNvPr id="22" name="Dot1"/>
          <p:cNvSpPr/>
          <p:nvPr/>
        </p:nvSpPr>
        <p:spPr>
          <a:xfrm>
            <a:off x="4937760" y="3063240"/>
            <a:ext cx="137160" cy="137160"/>
          </a:xfrm>
          <a:prstGeom prst="ellipse">
            <a:avLst/>
          </a:prstGeom>
          <a:solidFill>
            <a:srgbClr val="4FD89A"/>
          </a:solidFill>
          <a:ln/>
        </p:spPr>
      </p:sp>
      <p:sp>
        <p:nvSpPr>
          <p:cNvPr id="23" name="Text1"/>
          <p:cNvSpPr/>
          <p:nvPr/>
        </p:nvSpPr>
        <p:spPr>
          <a:xfrm>
            <a:off x="5194920" y="2926080"/>
            <a:ext cx="626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F2F0E6"/>
                </a:solidFill>
                <a:latin typeface="Calibri" pitchFamily="34" charset="0"/>
              </a:rPr>
              <a:t>Consent is explicit, not assumed</a:t>
            </a:r>
          </a:p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7E8DF"/>
                </a:solidFill>
                <a:latin typeface="Calibri" pitchFamily="34" charset="0"/>
              </a:rPr>
              <a:t>Reuse never happens silently in the background — the customer approves each new institution's access in the moment.</a:t>
            </a:r>
          </a:p>
        </p:txBody>
      </p:sp>
      <p:cxnSp>
        <p:nvCxnSpPr>
          <p:cNvPr id="24" name="Sep1"/>
          <p:cNvCxnSpPr/>
          <p:nvPr/>
        </p:nvCxnSpPr>
        <p:spPr>
          <a:xfrm>
            <a:off x="4937760" y="3886200"/>
            <a:ext cx="6263520" cy="0"/>
          </a:xfrm>
          <a:prstGeom prst="line">
            <a:avLst/>
          </a:prstGeom>
          <a:ln w="9525">
            <a:solidFill>
              <a:srgbClr val="4FD89A">
                <a:alpha val="45000"/>
              </a:srgbClr>
            </a:solidFill>
          </a:ln>
        </p:spPr>
      </p:cxnSp>
      <p:sp>
        <p:nvSpPr>
          <p:cNvPr id="25" name="Dot2"/>
          <p:cNvSpPr/>
          <p:nvPr/>
        </p:nvSpPr>
        <p:spPr>
          <a:xfrm>
            <a:off x="4937760" y="4114800"/>
            <a:ext cx="137160" cy="137160"/>
          </a:xfrm>
          <a:prstGeom prst="ellipse">
            <a:avLst/>
          </a:prstGeom>
          <a:solidFill>
            <a:srgbClr val="4FD89A"/>
          </a:solidFill>
          <a:ln/>
        </p:spPr>
      </p:sp>
      <p:sp>
        <p:nvSpPr>
          <p:cNvPr id="26" name="Text2"/>
          <p:cNvSpPr/>
          <p:nvPr/>
        </p:nvSpPr>
        <p:spPr>
          <a:xfrm>
            <a:off x="5194920" y="3977640"/>
            <a:ext cx="626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F2F0E6"/>
                </a:solidFill>
                <a:latin typeface="Calibri" pitchFamily="34" charset="0"/>
              </a:rPr>
              <a:t>She sees the claim, never the raw data</a:t>
            </a:r>
          </a:p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7E8DF"/>
                </a:solidFill>
                <a:latin typeface="Calibri" pitchFamily="34" charset="0"/>
              </a:rPr>
              <a:t>The screen states exactly what's being confirmed, in plain language — matching the selective-disclosure claim on the previous slide.</a:t>
            </a:r>
          </a:p>
        </p:txBody>
      </p:sp>
      <p:cxnSp>
        <p:nvCxnSpPr>
          <p:cNvPr id="27" name="Sep2"/>
          <p:cNvCxnSpPr/>
          <p:nvPr/>
        </p:nvCxnSpPr>
        <p:spPr>
          <a:xfrm>
            <a:off x="4937760" y="4937760"/>
            <a:ext cx="6263520" cy="0"/>
          </a:xfrm>
          <a:prstGeom prst="line">
            <a:avLst/>
          </a:prstGeom>
          <a:ln w="9525">
            <a:solidFill>
              <a:srgbClr val="4FD89A">
                <a:alpha val="45000"/>
              </a:srgbClr>
            </a:solidFill>
          </a:ln>
        </p:spPr>
      </p:cxnSp>
      <p:sp>
        <p:nvSpPr>
          <p:cNvPr id="28" name="Dot3"/>
          <p:cNvSpPr/>
          <p:nvPr/>
        </p:nvSpPr>
        <p:spPr>
          <a:xfrm>
            <a:off x="4937760" y="5166360"/>
            <a:ext cx="137160" cy="137160"/>
          </a:xfrm>
          <a:prstGeom prst="ellipse">
            <a:avLst/>
          </a:prstGeom>
          <a:solidFill>
            <a:srgbClr val="4FD89A"/>
          </a:solidFill>
          <a:ln/>
        </p:spPr>
      </p:sp>
      <p:sp>
        <p:nvSpPr>
          <p:cNvPr id="29" name="Text3"/>
          <p:cNvSpPr/>
          <p:nvPr/>
        </p:nvSpPr>
        <p:spPr>
          <a:xfrm>
            <a:off x="5194920" y="5029200"/>
            <a:ext cx="626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F2F0E6"/>
                </a:solidFill>
                <a:latin typeface="Calibri" pitchFamily="34" charset="0"/>
              </a:rPr>
              <a:t>Revocation is one tap, not a phone call</a:t>
            </a:r>
          </a:p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7E8DF"/>
                </a:solidFill>
                <a:latin typeface="Calibri" pitchFamily="34" charset="0"/>
              </a:rPr>
              <a:t>Her consent history lists every institution that's checked her credential, each one individually revocable — this is what revokeKYC() looks like from her side.</a:t>
            </a:r>
          </a:p>
        </p:txBody>
      </p:sp>
      <p:sp>
        <p:nvSpPr>
          <p:cNvPr id="50" name="PageNum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B7E"/>
                </a:solidFill>
                <a:latin typeface="Calibri" pitchFamily="34" charset="0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HLD IN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Walking the architecture through a real customer journey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already holds a Lloyds current account. She now applies for a Halifax mortgage.</a:t>
            </a:r>
            <a:endParaRPr lang="en-US" sz="1250" dirty="0"/>
          </a:p>
        </p:txBody>
      </p:sp>
      <p:sp>
        <p:nvSpPr>
          <p:cNvPr id="201" name="StepCircle0"/>
          <p:cNvSpPr/>
          <p:nvPr/>
        </p:nvSpPr>
        <p:spPr>
          <a:xfrm>
            <a:off x="548640" y="1947672"/>
            <a:ext cx="374904" cy="374904"/>
          </a:xfrm>
          <a:prstGeom prst="ellipse">
            <a:avLst/>
          </a:prstGeom>
          <a:solidFill>
            <a:srgbClr val="024731"/>
          </a:solidFill>
          <a:ln/>
        </p:spPr>
      </p:sp>
      <p:sp>
        <p:nvSpPr>
          <p:cNvPr id="202" name="StepNum0"/>
          <p:cNvSpPr/>
          <p:nvPr/>
        </p:nvSpPr>
        <p:spPr>
          <a:xfrm>
            <a:off x="548640" y="1947672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50" dirty="0"/>
          </a:p>
        </p:txBody>
      </p:sp>
      <p:sp>
        <p:nvSpPr>
          <p:cNvPr id="203" name="StepCard0"/>
          <p:cNvSpPr/>
          <p:nvPr/>
        </p:nvSpPr>
        <p:spPr>
          <a:xfrm>
            <a:off x="1188720" y="1911096"/>
            <a:ext cx="10424160" cy="7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4" name="StepLabel0"/>
          <p:cNvSpPr/>
          <p:nvPr/>
        </p:nvSpPr>
        <p:spPr>
          <a:xfrm>
            <a:off x="1417320" y="1947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5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 layer</a:t>
            </a:r>
            <a:endParaRPr lang="en-US" sz="850" dirty="0"/>
          </a:p>
        </p:txBody>
      </p:sp>
      <p:sp>
        <p:nvSpPr>
          <p:cNvPr id="205" name="StepTitle0"/>
          <p:cNvSpPr/>
          <p:nvPr/>
        </p:nvSpPr>
        <p:spPr>
          <a:xfrm>
            <a:off x="1417320" y="22062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Halifax mortgage application</a:t>
            </a:r>
            <a:endParaRPr lang="en-US" sz="1150" dirty="0"/>
          </a:p>
        </p:txBody>
      </p:sp>
      <p:sp>
        <p:nvSpPr>
          <p:cNvPr id="206" name="StepDesc0"/>
          <p:cNvSpPr/>
          <p:nvPr/>
        </p:nvSpPr>
        <p:spPr>
          <a:xfrm>
            <a:off x="4206240" y="1911096"/>
            <a:ext cx="7315200" cy="7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4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opens a Halifax mortgage application. The front end calls the shared API gateway and asks: has this customer already been verified anywhere in the Group?</a:t>
            </a:r>
            <a:endParaRPr lang="en-US" sz="980" dirty="0"/>
          </a:p>
        </p:txBody>
      </p:sp>
      <p:sp>
        <p:nvSpPr>
          <p:cNvPr id="207" name="StepCircle1"/>
          <p:cNvSpPr/>
          <p:nvPr/>
        </p:nvSpPr>
        <p:spPr>
          <a:xfrm>
            <a:off x="548640" y="2740672"/>
            <a:ext cx="374904" cy="374904"/>
          </a:xfrm>
          <a:prstGeom prst="ellipse">
            <a:avLst/>
          </a:prstGeom>
          <a:solidFill>
            <a:srgbClr val="024731"/>
          </a:solidFill>
          <a:ln/>
        </p:spPr>
      </p:sp>
      <p:sp>
        <p:nvSpPr>
          <p:cNvPr id="208" name="StepNum1"/>
          <p:cNvSpPr/>
          <p:nvPr/>
        </p:nvSpPr>
        <p:spPr>
          <a:xfrm>
            <a:off x="548640" y="2740672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50" dirty="0"/>
          </a:p>
        </p:txBody>
      </p:sp>
      <p:sp>
        <p:nvSpPr>
          <p:cNvPr id="209" name="StepCard1"/>
          <p:cNvSpPr/>
          <p:nvPr/>
        </p:nvSpPr>
        <p:spPr>
          <a:xfrm>
            <a:off x="1188720" y="2704096"/>
            <a:ext cx="10424160" cy="7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0" name="StepLabel1"/>
          <p:cNvSpPr/>
          <p:nvPr/>
        </p:nvSpPr>
        <p:spPr>
          <a:xfrm>
            <a:off x="1417320" y="2740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5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 &amp; credential layer</a:t>
            </a:r>
            <a:endParaRPr lang="en-US" sz="850" dirty="0"/>
          </a:p>
        </p:txBody>
      </p:sp>
      <p:sp>
        <p:nvSpPr>
          <p:cNvPr id="211" name="StepTitle1"/>
          <p:cNvSpPr/>
          <p:nvPr/>
        </p:nvSpPr>
        <p:spPr>
          <a:xfrm>
            <a:off x="1417320" y="29992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Lloyds-issued credential</a:t>
            </a:r>
            <a:endParaRPr lang="en-US" sz="1150" dirty="0"/>
          </a:p>
        </p:txBody>
      </p:sp>
      <p:sp>
        <p:nvSpPr>
          <p:cNvPr id="212" name="StepDesc1"/>
          <p:cNvSpPr/>
          <p:nvPr/>
        </p:nvSpPr>
        <p:spPr>
          <a:xfrm>
            <a:off x="4206240" y="2704096"/>
            <a:ext cx="7315200" cy="7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4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existing Lloyds-issued Verifiable Credential is presented — a signed, portable proof from when she opened her Lloyds current account, not a fresh document upload.</a:t>
            </a:r>
            <a:endParaRPr lang="en-US" sz="980" dirty="0"/>
          </a:p>
        </p:txBody>
      </p:sp>
      <p:sp>
        <p:nvSpPr>
          <p:cNvPr id="213" name="StepCircle2"/>
          <p:cNvSpPr/>
          <p:nvPr/>
        </p:nvSpPr>
        <p:spPr>
          <a:xfrm>
            <a:off x="548640" y="3533672"/>
            <a:ext cx="374904" cy="374904"/>
          </a:xfrm>
          <a:prstGeom prst="ellipse">
            <a:avLst/>
          </a:prstGeom>
          <a:solidFill>
            <a:srgbClr val="024731"/>
          </a:solidFill>
          <a:ln/>
        </p:spPr>
      </p:sp>
      <p:sp>
        <p:nvSpPr>
          <p:cNvPr id="214" name="StepNum2"/>
          <p:cNvSpPr/>
          <p:nvPr/>
        </p:nvSpPr>
        <p:spPr>
          <a:xfrm>
            <a:off x="548640" y="3533672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50" dirty="0"/>
          </a:p>
        </p:txBody>
      </p:sp>
      <p:sp>
        <p:nvSpPr>
          <p:cNvPr id="215" name="StepCard2"/>
          <p:cNvSpPr/>
          <p:nvPr/>
        </p:nvSpPr>
        <p:spPr>
          <a:xfrm>
            <a:off x="1188720" y="3497096"/>
            <a:ext cx="10424160" cy="7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6" name="StepLabel2"/>
          <p:cNvSpPr/>
          <p:nvPr/>
        </p:nvSpPr>
        <p:spPr>
          <a:xfrm>
            <a:off x="1417320" y="3533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5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 contract layer</a:t>
            </a:r>
            <a:endParaRPr lang="en-US" sz="850" dirty="0"/>
          </a:p>
        </p:txBody>
      </p:sp>
      <p:sp>
        <p:nvSpPr>
          <p:cNvPr id="217" name="StepTitle2"/>
          <p:cNvSpPr/>
          <p:nvPr/>
        </p:nvSpPr>
        <p:spPr>
          <a:xfrm>
            <a:off x="1417320" y="37922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verifyKYC() on Priya's credential</a:t>
            </a:r>
            <a:endParaRPr lang="en-US" sz="1150" dirty="0"/>
          </a:p>
        </p:txBody>
      </p:sp>
      <p:sp>
        <p:nvSpPr>
          <p:cNvPr id="218" name="StepDesc2"/>
          <p:cNvSpPr/>
          <p:nvPr/>
        </p:nvSpPr>
        <p:spPr>
          <a:xfrm>
            <a:off x="4206240" y="3497096"/>
            <a:ext cx="7315200" cy="7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4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Halifax's system calls verifyKYC() against that credential's fingerprint. The contract checks validity, expiry, and issuer — Lloyds — automatically.</a:t>
            </a:r>
            <a:endParaRPr lang="en-US" sz="980" dirty="0"/>
          </a:p>
        </p:txBody>
      </p:sp>
      <p:sp>
        <p:nvSpPr>
          <p:cNvPr id="219" name="StepCircle3"/>
          <p:cNvSpPr/>
          <p:nvPr/>
        </p:nvSpPr>
        <p:spPr>
          <a:xfrm>
            <a:off x="548640" y="4326672"/>
            <a:ext cx="374904" cy="374904"/>
          </a:xfrm>
          <a:prstGeom prst="ellipse">
            <a:avLst/>
          </a:prstGeom>
          <a:solidFill>
            <a:srgbClr val="024731"/>
          </a:solidFill>
          <a:ln/>
        </p:spPr>
      </p:sp>
      <p:sp>
        <p:nvSpPr>
          <p:cNvPr id="220" name="StepNum3"/>
          <p:cNvSpPr/>
          <p:nvPr/>
        </p:nvSpPr>
        <p:spPr>
          <a:xfrm>
            <a:off x="548640" y="4326672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50" dirty="0"/>
          </a:p>
        </p:txBody>
      </p:sp>
      <p:sp>
        <p:nvSpPr>
          <p:cNvPr id="221" name="StepCard3"/>
          <p:cNvSpPr/>
          <p:nvPr/>
        </p:nvSpPr>
        <p:spPr>
          <a:xfrm>
            <a:off x="1188720" y="4290096"/>
            <a:ext cx="10424160" cy="7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2" name="StepLabel3"/>
          <p:cNvSpPr/>
          <p:nvPr/>
        </p:nvSpPr>
        <p:spPr>
          <a:xfrm>
            <a:off x="1417320" y="4326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5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Blockchain / DLT layer</a:t>
            </a:r>
            <a:endParaRPr lang="en-US" sz="850" dirty="0"/>
          </a:p>
        </p:txBody>
      </p:sp>
      <p:sp>
        <p:nvSpPr>
          <p:cNvPr id="223" name="StepTitle3"/>
          <p:cNvSpPr/>
          <p:nvPr/>
        </p:nvSpPr>
        <p:spPr>
          <a:xfrm>
            <a:off x="1417320" y="45852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4/4 Group validators confirm</a:t>
            </a:r>
            <a:endParaRPr lang="en-US" sz="1150" dirty="0"/>
          </a:p>
        </p:txBody>
      </p:sp>
      <p:sp>
        <p:nvSpPr>
          <p:cNvPr id="224" name="StepDesc3"/>
          <p:cNvSpPr/>
          <p:nvPr/>
        </p:nvSpPr>
        <p:spPr>
          <a:xfrm>
            <a:off x="4206240" y="4290096"/>
            <a:ext cx="7315200" cy="7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4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 is confirmed across the Group's permissioned validators. Halifax now trusts the result without ever requesting Priya's Aadhaar or address proof again.</a:t>
            </a:r>
            <a:endParaRPr lang="en-US" sz="980" dirty="0"/>
          </a:p>
        </p:txBody>
      </p:sp>
      <p:sp>
        <p:nvSpPr>
          <p:cNvPr id="225" name="StepCircle4"/>
          <p:cNvSpPr/>
          <p:nvPr/>
        </p:nvSpPr>
        <p:spPr>
          <a:xfrm>
            <a:off x="548640" y="5119672"/>
            <a:ext cx="374904" cy="374904"/>
          </a:xfrm>
          <a:prstGeom prst="ellipse">
            <a:avLst/>
          </a:prstGeom>
          <a:solidFill>
            <a:srgbClr val="024731"/>
          </a:solidFill>
          <a:ln/>
        </p:spPr>
      </p:sp>
      <p:sp>
        <p:nvSpPr>
          <p:cNvPr id="226" name="StepNum4"/>
          <p:cNvSpPr/>
          <p:nvPr/>
        </p:nvSpPr>
        <p:spPr>
          <a:xfrm>
            <a:off x="548640" y="5119672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50" dirty="0"/>
          </a:p>
        </p:txBody>
      </p:sp>
      <p:sp>
        <p:nvSpPr>
          <p:cNvPr id="227" name="StepCard4"/>
          <p:cNvSpPr/>
          <p:nvPr/>
        </p:nvSpPr>
        <p:spPr>
          <a:xfrm>
            <a:off x="1188720" y="5083096"/>
            <a:ext cx="10424160" cy="7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8" name="StepLabel4"/>
          <p:cNvSpPr/>
          <p:nvPr/>
        </p:nvSpPr>
        <p:spPr>
          <a:xfrm>
            <a:off x="1417320" y="5119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5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 layer</a:t>
            </a:r>
            <a:endParaRPr lang="en-US" sz="850" dirty="0"/>
          </a:p>
        </p:txBody>
      </p:sp>
      <p:sp>
        <p:nvSpPr>
          <p:cNvPr id="229" name="StepTitle4"/>
          <p:cNvSpPr/>
          <p:nvPr/>
        </p:nvSpPr>
        <p:spPr>
          <a:xfrm>
            <a:off x="1417320" y="53782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on-chain, documents stay off</a:t>
            </a:r>
            <a:endParaRPr lang="en-US" sz="1150" dirty="0"/>
          </a:p>
        </p:txBody>
      </p:sp>
      <p:sp>
        <p:nvSpPr>
          <p:cNvPr id="230" name="StepDesc4"/>
          <p:cNvSpPr/>
          <p:nvPr/>
        </p:nvSpPr>
        <p:spPr>
          <a:xfrm>
            <a:off x="4206240" y="5083096"/>
            <a:ext cx="7315200" cy="7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4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Priya's mortgage documents remain in Halifax's encrypted off-chain store. Only the credential's fingerprint was ever written to the shared ledger.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48640" y="606247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021F15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606247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FD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Priya's Halifax mortgage moves to underwriting in minutes — her identity, not her paperwork, did the work.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ACTUALLY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functions, plus one on the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0" cy="700000"/>
          </a:xfrm>
          <a:prstGeom prst="roundRect">
            <a:avLst>
              <a:gd name="adj" fmla="val 7368"/>
            </a:avLst>
          </a:prstGeom>
          <a:solidFill>
            <a:srgbClr val="02473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936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issueKYC()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27736"/>
            <a:ext cx="457200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 commits the credential's fingerprint after verification.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38528"/>
            <a:ext cx="5029200" cy="700000"/>
          </a:xfrm>
          <a:prstGeom prst="roundRect">
            <a:avLst>
              <a:gd name="adj" fmla="val 7368"/>
            </a:avLst>
          </a:prstGeom>
          <a:solidFill>
            <a:srgbClr val="02473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034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verifyKYC()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037464"/>
            <a:ext cx="457200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Group brand checks validity and gets a yes/no in seconds.</a:t>
            </a:r>
            <a:endParaRPr lang="en-US" sz="1000" dirty="0"/>
          </a:p>
        </p:txBody>
      </p:sp>
      <p:sp>
        <p:nvSpPr>
          <p:cNvPr id="40" name="Shape ClaimCard"/>
          <p:cNvSpPr/>
          <p:nvPr/>
        </p:nvSpPr>
        <p:spPr>
          <a:xfrm>
            <a:off x="548640" y="3448256"/>
            <a:ext cx="5029200" cy="700000"/>
          </a:xfrm>
          <a:prstGeom prst="roundRect">
            <a:avLst>
              <a:gd name="adj" fmla="val 7368"/>
            </a:avLst>
          </a:prstGeom>
          <a:solidFill>
            <a:srgbClr val="0B5C3F"/>
          </a:solidFill>
          <a:ln w="9525">
            <a:solidFill>
              <a:srgbClr val="4FD89A">
                <a:alpha val="45000"/>
              </a:srgbClr>
            </a:solidFill>
          </a:ln>
        </p:spPr>
      </p:sp>
      <p:sp>
        <p:nvSpPr>
          <p:cNvPr id="41" name="Text ClaimLabel"/>
          <p:cNvSpPr/>
          <p:nvPr/>
        </p:nvSpPr>
        <p:spPr>
          <a:xfrm>
            <a:off x="777240" y="3513152"/>
            <a:ext cx="24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verifyClaim()</a:t>
            </a:r>
            <a:endParaRPr lang="en-US" sz="1300" dirty="0"/>
          </a:p>
        </p:txBody>
      </p:sp>
      <p:sp>
        <p:nvSpPr>
          <p:cNvPr id="42" name="Text ClaimDesc"/>
          <p:cNvSpPr/>
          <p:nvPr/>
        </p:nvSpPr>
        <p:spPr>
          <a:xfrm>
            <a:off x="777240" y="3847192"/>
            <a:ext cx="457200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extension: proves one narrow claim, the selective-disclosure idea shown earlier, made real.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4257984"/>
            <a:ext cx="5029200" cy="700000"/>
          </a:xfrm>
          <a:prstGeom prst="roundRect">
            <a:avLst>
              <a:gd name="adj" fmla="val 7368"/>
            </a:avLst>
          </a:prstGeom>
          <a:solidFill>
            <a:srgbClr val="02473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322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revokeKYC()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656920"/>
            <a:ext cx="457200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compromised credential is invalidated network-wide, instantly.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5067712"/>
            <a:ext cx="5029200" cy="1058768"/>
          </a:xfrm>
          <a:prstGeom prst="roundRect">
            <a:avLst>
              <a:gd name="adj" fmla="val 5385"/>
            </a:avLst>
          </a:prstGeom>
          <a:solidFill>
            <a:srgbClr val="021F15"/>
          </a:solidFill>
          <a:ln/>
        </p:spPr>
      </p:sp>
      <p:pic>
        <p:nvPicPr>
          <p:cNvPr id="14" name="Image 0" descr="/home/claude/ppt-assets/gifs/hash_forming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088" y="5142712"/>
            <a:ext cx="2726304" cy="90876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989320" y="1828800"/>
            <a:ext cx="5623560" cy="4297680"/>
          </a:xfrm>
          <a:prstGeom prst="roundRect">
            <a:avLst>
              <a:gd name="adj" fmla="val 1489"/>
            </a:avLst>
          </a:prstGeom>
          <a:solidFill>
            <a:srgbClr val="06140E"/>
          </a:solidFill>
          <a:ln/>
        </p:spPr>
      </p:sp>
      <p:sp>
        <p:nvSpPr>
          <p:cNvPr id="16" name="Text 13"/>
          <p:cNvSpPr/>
          <p:nvPr/>
        </p:nvSpPr>
        <p:spPr>
          <a:xfrm>
            <a:off x="6263640" y="20116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Consensus before anything is final</a:t>
            </a:r>
            <a:endParaRPr lang="en-US" sz="1300" dirty="0"/>
          </a:p>
        </p:txBody>
      </p:sp>
      <p:pic>
        <p:nvPicPr>
          <p:cNvPr id="17" name="Image 1" descr="/home/claude/ppt-assets/gifs/consensus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484120"/>
            <a:ext cx="4892040" cy="32613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PRODUCT,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1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product line, one reusable KYC engine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 — this is the real, running dashboard.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949440" cy="4251960"/>
          </a:xfrm>
          <a:prstGeom prst="roundRect">
            <a:avLst>
              <a:gd name="adj" fmla="val 1290"/>
            </a:avLst>
          </a:prstGeom>
          <a:solidFill>
            <a:srgbClr val="1A1A1A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2103120"/>
            <a:ext cx="109728" cy="109728"/>
          </a:xfrm>
          <a:prstGeom prst="ellipse">
            <a:avLst/>
          </a:prstGeom>
          <a:solidFill>
            <a:srgbClr val="E0524C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103120"/>
            <a:ext cx="109728" cy="109728"/>
          </a:xfrm>
          <a:prstGeom prst="ellipse">
            <a:avLst/>
          </a:prstGeom>
          <a:solidFill>
            <a:srgbClr val="E0B43C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2103120"/>
            <a:ext cx="109728" cy="109728"/>
          </a:xfrm>
          <a:prstGeom prst="ellipse">
            <a:avLst/>
          </a:prstGeom>
          <a:solidFill>
            <a:srgbClr val="3FB55C"/>
          </a:solidFill>
          <a:ln/>
        </p:spPr>
      </p:sp>
      <p:pic>
        <p:nvPicPr>
          <p:cNvPr id="9" name="Image 0" descr="/home/claude/ppt-assets/screenshot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286000"/>
            <a:ext cx="6839712" cy="39227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2011680"/>
            <a:ext cx="3916375" cy="4251960"/>
          </a:xfrm>
          <a:prstGeom prst="roundRect">
            <a:avLst>
              <a:gd name="adj" fmla="val 1868"/>
            </a:avLst>
          </a:prstGeom>
          <a:solidFill>
            <a:srgbClr val="024731"/>
          </a:solidFill>
          <a:ln/>
        </p:spPr>
      </p:sp>
      <p:sp>
        <p:nvSpPr>
          <p:cNvPr id="11" name="Text 8"/>
          <p:cNvSpPr/>
          <p:nvPr/>
        </p:nvSpPr>
        <p:spPr>
          <a:xfrm>
            <a:off x="8092440" y="2240280"/>
            <a:ext cx="3367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092440" y="3307080"/>
            <a:ext cx="137160" cy="137160"/>
          </a:xfrm>
          <a:prstGeom prst="ellipse">
            <a:avLst/>
          </a:prstGeom>
          <a:solidFill>
            <a:srgbClr val="4FD89A"/>
          </a:solidFill>
          <a:ln/>
        </p:spPr>
      </p:sp>
      <p:sp>
        <p:nvSpPr>
          <p:cNvPr id="13" name="Text 10"/>
          <p:cNvSpPr/>
          <p:nvPr/>
        </p:nvSpPr>
        <p:spPr>
          <a:xfrm>
            <a:off x="8348472" y="2941320"/>
            <a:ext cx="3093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loans, home loans, vehicle loans, business loans, and cards all run through the same credential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92440" y="4334256"/>
            <a:ext cx="137160" cy="137160"/>
          </a:xfrm>
          <a:prstGeom prst="ellipse">
            <a:avLst/>
          </a:prstGeom>
          <a:solidFill>
            <a:srgbClr val="4FD89A"/>
          </a:solidFill>
          <a:ln/>
        </p:spPr>
      </p:sp>
      <p:sp>
        <p:nvSpPr>
          <p:cNvPr id="15" name="Text 12"/>
          <p:cNvSpPr/>
          <p:nvPr/>
        </p:nvSpPr>
        <p:spPr>
          <a:xfrm>
            <a:off x="8348472" y="3968496"/>
            <a:ext cx="3093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of today's applications skip document re-upload entirely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92440" y="5361432"/>
            <a:ext cx="137160" cy="137160"/>
          </a:xfrm>
          <a:prstGeom prst="ellipse">
            <a:avLst/>
          </a:prstGeom>
          <a:solidFill>
            <a:srgbClr val="4FD89A"/>
          </a:solidFill>
          <a:ln/>
        </p:spPr>
      </p:sp>
      <p:sp>
        <p:nvSpPr>
          <p:cNvPr id="17" name="Text 14"/>
          <p:cNvSpPr/>
          <p:nvPr/>
        </p:nvSpPr>
        <p:spPr>
          <a:xfrm>
            <a:off x="8348472" y="4995672"/>
            <a:ext cx="3093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7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network — Lloyds, a Group brand, a credit bureau, a regulator — is visibly in sync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cxnSp>
        <p:nvCxnSpPr>
          <p:cNvPr id="90" name="BulletSeparator0"/>
          <p:cNvCxnSpPr/>
          <p:nvPr/>
        </p:nvCxnSpPr>
        <p:spPr>
          <a:xfrm>
            <a:off x="8092440" y="3829248"/>
            <a:ext cx="3367735" cy="0"/>
          </a:xfrm>
          <a:prstGeom prst="line">
            <a:avLst/>
          </a:prstGeom>
          <a:ln w="9525">
            <a:solidFill>
              <a:srgbClr val="1D9E75">
                <a:alpha val="45000"/>
              </a:srgbClr>
            </a:solidFill>
          </a:ln>
        </p:spPr>
      </p:cxnSp>
      <p:cxnSp>
        <p:nvCxnSpPr>
          <p:cNvPr id="91" name="BulletSeparator1"/>
          <p:cNvCxnSpPr/>
          <p:nvPr/>
        </p:nvCxnSpPr>
        <p:spPr>
          <a:xfrm>
            <a:off x="8092440" y="4856424"/>
            <a:ext cx="3367735" cy="0"/>
          </a:xfrm>
          <a:prstGeom prst="line">
            <a:avLst/>
          </a:prstGeom>
          <a:ln w="9525">
            <a:solidFill>
              <a:srgbClr val="1D9E75">
                <a:alpha val="45000"/>
              </a:srgbClr>
            </a:solidFill>
          </a:ln>
        </p:spPr>
      </p:cxnSp>
      <p:sp>
        <p:nvSpPr>
          <p:cNvPr id="19" name="ViewPrototypeButton">
            <a:extLst>
              <a:ext uri="{FF2B5EF4-FFF2-40B4-BE49-F238E27FC236}">
                <a16:creationId xmlns:a16="http://schemas.microsoft.com/office/drawing/2014/main" id="{F97D8144-33D5-3794-9202-DB5A61EFB482}"/>
              </a:ext>
            </a:extLst>
          </p:cNvPr>
          <p:cNvSpPr/>
          <p:nvPr/>
        </p:nvSpPr>
        <p:spPr>
          <a:xfrm>
            <a:off x="4954934" y="1465990"/>
            <a:ext cx="2543146" cy="502920"/>
          </a:xfrm>
          <a:prstGeom prst="roundRect">
            <a:avLst>
              <a:gd name="adj" fmla="val 50000"/>
            </a:avLst>
          </a:prstGeom>
          <a:solidFill>
            <a:srgbClr val="0B4A33"/>
          </a:solidFill>
          <a:ln>
            <a:noFill/>
          </a:ln>
        </p:spPr>
        <p:txBody>
          <a:bodyPr wrap="square" lIns="0" tIns="0" rIns="0" bIns="0" rtlCol="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live prototype →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TAKE FURTHER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it's the Lloyds Banking Group. The design already assumes more.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the architecture is single-bank. Every new validator — another bank, an NBFC, a fintech — is just one more node trusting the same rules.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943600" cy="4023360"/>
          </a:xfrm>
          <a:prstGeom prst="roundRect">
            <a:avLst>
              <a:gd name="adj" fmla="val 1591"/>
            </a:avLst>
          </a:prstGeom>
          <a:solidFill>
            <a:srgbClr val="06140E"/>
          </a:solidFill>
          <a:ln/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/home/claude/ppt-assets/gifs/network_scal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28487"/>
            <a:ext cx="5577840" cy="23555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66560" y="2194560"/>
            <a:ext cx="4846320" cy="1207008"/>
          </a:xfrm>
          <a:prstGeom prst="roundRect">
            <a:avLst>
              <a:gd name="adj" fmla="val 5303"/>
            </a:avLst>
          </a:prstGeom>
          <a:solidFill>
            <a:srgbClr val="0B5C3F"/>
          </a:solidFill>
          <a:ln/>
        </p:spPr>
      </p:sp>
      <p:sp>
        <p:nvSpPr>
          <p:cNvPr id="8" name="Text 5"/>
          <p:cNvSpPr/>
          <p:nvPr/>
        </p:nvSpPr>
        <p:spPr>
          <a:xfrm>
            <a:off x="6995160" y="23042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Scales without redesign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95160" y="263347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D7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consensus adds validators horizontally; issueKYC / verifyKYC / revokeKYC don't change per product or per institution.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6766560" y="3529584"/>
            <a:ext cx="4846320" cy="1207008"/>
          </a:xfrm>
          <a:prstGeom prst="roundRect">
            <a:avLst>
              <a:gd name="adj" fmla="val 5303"/>
            </a:avLst>
          </a:prstGeom>
          <a:solidFill>
            <a:srgbClr val="0B5C3F"/>
          </a:solidFill>
          <a:ln/>
        </p:spPr>
      </p:sp>
      <p:sp>
        <p:nvSpPr>
          <p:cNvPr id="11" name="Text 8"/>
          <p:cNvSpPr/>
          <p:nvPr/>
        </p:nvSpPr>
        <p:spPr>
          <a:xfrm>
            <a:off x="6995160" y="36393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shared fraud signal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95160" y="3968496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D7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revoked credential is visible to every connected institution at once — not siloed, the way it is today.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6766560" y="4864608"/>
            <a:ext cx="4846320" cy="1207008"/>
          </a:xfrm>
          <a:prstGeom prst="roundRect">
            <a:avLst>
              <a:gd name="adj" fmla="val 5303"/>
            </a:avLst>
          </a:prstGeom>
          <a:solidFill>
            <a:srgbClr val="0B5C3F"/>
          </a:solidFill>
          <a:ln/>
        </p:spPr>
      </p:sp>
      <p:sp>
        <p:nvSpPr>
          <p:cNvPr id="14" name="Text 11"/>
          <p:cNvSpPr/>
          <p:nvPr/>
        </p:nvSpPr>
        <p:spPr>
          <a:xfrm>
            <a:off x="6995160" y="49743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cost, industry-wide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995160" y="53035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D7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institution on the network saves the cost of re-verifying something already cryptographically proven.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49616" y="4754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12" b="1" kern="0" spc="200" dirty="0">
                <a:solidFill>
                  <a:srgbClr val="F2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</a:t>
            </a:r>
            <a:endParaRPr lang="en-US" sz="1512" dirty="0"/>
          </a:p>
        </p:txBody>
      </p:sp>
      <p:sp>
        <p:nvSpPr>
          <p:cNvPr id="4" name="Text 1"/>
          <p:cNvSpPr/>
          <p:nvPr/>
        </p:nvSpPr>
        <p:spPr>
          <a:xfrm>
            <a:off x="594360" y="23774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isn't a faster form.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It's a trust layer the entire </a:t>
            </a:r>
            <a:r>
              <a:rPr lang="en-US" sz="3400" b="1" dirty="0">
                <a:solidFill>
                  <a:srgbClr val="4FD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lending industry</a:t>
            </a:r>
            <a:r>
              <a:rPr lang="en-US" sz="3400" b="1" dirty="0">
                <a:solidFill>
                  <a:srgbClr val="F2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 can finally share.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4251960"/>
            <a:ext cx="3840480" cy="0"/>
          </a:xfrm>
          <a:prstGeom prst="line">
            <a:avLst/>
          </a:prstGeom>
          <a:noFill/>
          <a:ln w="12700">
            <a:solidFill>
              <a:srgbClr val="2E5C4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8C7542-7A39-E526-7BA5-B6A0AC070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44055"/>
            <a:ext cx="2381250" cy="885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2059</Words>
  <Application>Microsoft Office PowerPoint</Application>
  <PresentationFormat>Widescreen</PresentationFormat>
  <Paragraphs>224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Reusable KYC on Distributed Ledger Technology — Lloyds Banking Group</dc:title>
  <dc:subject>PptxGenJS Presentation</dc:subject>
  <dc:creator>Lloyds DLT Lending Platform</dc:creator>
  <cp:lastModifiedBy>Nandini gupta</cp:lastModifiedBy>
  <cp:revision>6</cp:revision>
  <dcterms:created xsi:type="dcterms:W3CDTF">2026-06-25T09:35:46Z</dcterms:created>
  <dcterms:modified xsi:type="dcterms:W3CDTF">2026-06-29T15:18:46Z</dcterms:modified>
</cp:coreProperties>
</file>